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8"/>
  </p:notesMasterIdLst>
  <p:sldIdLst>
    <p:sldId id="309" r:id="rId2"/>
    <p:sldId id="305" r:id="rId3"/>
    <p:sldId id="299" r:id="rId4"/>
    <p:sldId id="308" r:id="rId5"/>
    <p:sldId id="306" r:id="rId6"/>
    <p:sldId id="301" r:id="rId7"/>
  </p:sldIdLst>
  <p:sldSz cx="6858000" cy="9144000" type="letter"/>
  <p:notesSz cx="6888163" cy="10018713"/>
  <p:defaultTextStyle>
    <a:defPPr>
      <a:defRPr lang="es-MX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2" userDrawn="1">
          <p15:clr>
            <a:srgbClr val="A4A3A4"/>
          </p15:clr>
        </p15:guide>
        <p15:guide id="2" pos="29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000000"/>
    <a:srgbClr val="FFFF00"/>
    <a:srgbClr val="FF00FF"/>
    <a:srgbClr val="001F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13" autoAdjust="0"/>
    <p:restoredTop sz="88727" autoAdjust="0"/>
  </p:normalViewPr>
  <p:slideViewPr>
    <p:cSldViewPr snapToGrid="0">
      <p:cViewPr varScale="1">
        <p:scale>
          <a:sx n="86" d="100"/>
          <a:sy n="86" d="100"/>
        </p:scale>
        <p:origin x="3150" y="84"/>
      </p:cViewPr>
      <p:guideLst>
        <p:guide orient="horz" pos="3152"/>
        <p:guide pos="29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984870" cy="502675"/>
          </a:xfrm>
          <a:prstGeom prst="rect">
            <a:avLst/>
          </a:prstGeom>
        </p:spPr>
        <p:txBody>
          <a:bodyPr vert="horz" lIns="94472" tIns="47237" rIns="94472" bIns="47237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01701" y="2"/>
            <a:ext cx="2984870" cy="502675"/>
          </a:xfrm>
          <a:prstGeom prst="rect">
            <a:avLst/>
          </a:prstGeom>
        </p:spPr>
        <p:txBody>
          <a:bodyPr vert="horz" lIns="94472" tIns="47237" rIns="94472" bIns="47237" rtlCol="0"/>
          <a:lstStyle>
            <a:lvl1pPr algn="r">
              <a:defRPr sz="1200"/>
            </a:lvl1pPr>
          </a:lstStyle>
          <a:p>
            <a:fld id="{C92F6CC4-7751-449E-A6CB-8B070147B49A}" type="datetimeFigureOut">
              <a:rPr lang="es-MX" smtClean="0"/>
              <a:pPr/>
              <a:t>21/04/2025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178050" y="1254125"/>
            <a:ext cx="2532063" cy="3379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2" tIns="47237" rIns="94472" bIns="47237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8818" y="4821509"/>
            <a:ext cx="5510530" cy="3944869"/>
          </a:xfrm>
          <a:prstGeom prst="rect">
            <a:avLst/>
          </a:prstGeom>
        </p:spPr>
        <p:txBody>
          <a:bodyPr vert="horz" lIns="94472" tIns="47237" rIns="94472" bIns="47237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3" y="9516042"/>
            <a:ext cx="2984870" cy="502673"/>
          </a:xfrm>
          <a:prstGeom prst="rect">
            <a:avLst/>
          </a:prstGeom>
        </p:spPr>
        <p:txBody>
          <a:bodyPr vert="horz" lIns="94472" tIns="47237" rIns="94472" bIns="47237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01701" y="9516042"/>
            <a:ext cx="2984870" cy="502673"/>
          </a:xfrm>
          <a:prstGeom prst="rect">
            <a:avLst/>
          </a:prstGeom>
        </p:spPr>
        <p:txBody>
          <a:bodyPr vert="horz" lIns="94472" tIns="47237" rIns="94472" bIns="47237" rtlCol="0" anchor="b"/>
          <a:lstStyle>
            <a:lvl1pPr algn="r">
              <a:defRPr sz="1200"/>
            </a:lvl1pPr>
          </a:lstStyle>
          <a:p>
            <a:fld id="{A5AE2470-0FDB-4639-920B-6B1FC35C8BE1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6372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AE2470-0FDB-4639-920B-6B1FC35C8BE1}" type="slidenum">
              <a:rPr lang="es-MX" smtClean="0"/>
              <a:pPr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7708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AE2470-0FDB-4639-920B-6B1FC35C8BE1}" type="slidenum">
              <a:rPr lang="es-MX" smtClean="0"/>
              <a:pPr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7571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AE2470-0FDB-4639-920B-6B1FC35C8BE1}" type="slidenum">
              <a:rPr lang="es-MX" smtClean="0"/>
              <a:pPr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2638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AE2470-0FDB-4639-920B-6B1FC35C8BE1}" type="slidenum">
              <a:rPr lang="es-MX" smtClean="0"/>
              <a:pPr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3913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AE2470-0FDB-4639-920B-6B1FC35C8BE1}" type="slidenum">
              <a:rPr lang="es-MX" smtClean="0"/>
              <a:pPr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7504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11C4-E790-413E-8493-D54A614F8F13}" type="datetimeFigureOut">
              <a:rPr lang="es-MX" smtClean="0"/>
              <a:pPr/>
              <a:t>21/04/2025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B7A1-903F-425A-908B-4C08C8BB47F1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9364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11C4-E790-413E-8493-D54A614F8F13}" type="datetimeFigureOut">
              <a:rPr lang="es-MX" smtClean="0"/>
              <a:pPr/>
              <a:t>21/04/2025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B7A1-903F-425A-908B-4C08C8BB47F1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6418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11C4-E790-413E-8493-D54A614F8F13}" type="datetimeFigureOut">
              <a:rPr lang="es-MX" smtClean="0"/>
              <a:pPr/>
              <a:t>21/04/2025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B7A1-903F-425A-908B-4C08C8BB47F1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0884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11C4-E790-413E-8493-D54A614F8F13}" type="datetimeFigureOut">
              <a:rPr lang="es-MX" smtClean="0"/>
              <a:pPr/>
              <a:t>21/04/2025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B7A1-903F-425A-908B-4C08C8BB47F1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647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11C4-E790-413E-8493-D54A614F8F13}" type="datetimeFigureOut">
              <a:rPr lang="es-MX" smtClean="0"/>
              <a:pPr/>
              <a:t>21/04/2025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B7A1-903F-425A-908B-4C08C8BB47F1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7305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11C4-E790-413E-8493-D54A614F8F13}" type="datetimeFigureOut">
              <a:rPr lang="es-MX" smtClean="0"/>
              <a:pPr/>
              <a:t>21/04/2025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B7A1-903F-425A-908B-4C08C8BB47F1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3697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11C4-E790-413E-8493-D54A614F8F13}" type="datetimeFigureOut">
              <a:rPr lang="es-MX" smtClean="0"/>
              <a:pPr/>
              <a:t>21/04/2025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B7A1-903F-425A-908B-4C08C8BB47F1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7430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11C4-E790-413E-8493-D54A614F8F13}" type="datetimeFigureOut">
              <a:rPr lang="es-MX" smtClean="0"/>
              <a:pPr/>
              <a:t>21/04/2025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B7A1-903F-425A-908B-4C08C8BB47F1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3848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11C4-E790-413E-8493-D54A614F8F13}" type="datetimeFigureOut">
              <a:rPr lang="es-MX" smtClean="0"/>
              <a:pPr/>
              <a:t>21/04/2025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B7A1-903F-425A-908B-4C08C8BB47F1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8501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11C4-E790-413E-8493-D54A614F8F13}" type="datetimeFigureOut">
              <a:rPr lang="es-MX" smtClean="0"/>
              <a:pPr/>
              <a:t>21/04/2025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B7A1-903F-425A-908B-4C08C8BB47F1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7196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11C4-E790-413E-8493-D54A614F8F13}" type="datetimeFigureOut">
              <a:rPr lang="es-MX" smtClean="0"/>
              <a:pPr/>
              <a:t>21/04/2025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B7A1-903F-425A-908B-4C08C8BB47F1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448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911C4-E790-413E-8493-D54A614F8F13}" type="datetimeFigureOut">
              <a:rPr lang="es-MX" smtClean="0"/>
              <a:pPr/>
              <a:t>21/04/2025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CB7A1-903F-425A-908B-4C08C8BB47F1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9231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rupo 3"/>
          <p:cNvGrpSpPr/>
          <p:nvPr/>
        </p:nvGrpSpPr>
        <p:grpSpPr>
          <a:xfrm>
            <a:off x="55418" y="858645"/>
            <a:ext cx="4007418" cy="549228"/>
            <a:chOff x="2654422" y="1486144"/>
            <a:chExt cx="5940000" cy="475536"/>
          </a:xfrm>
        </p:grpSpPr>
        <p:sp>
          <p:nvSpPr>
            <p:cNvPr id="154" name="CuadroTexto 4"/>
            <p:cNvSpPr txBox="1"/>
            <p:nvPr/>
          </p:nvSpPr>
          <p:spPr>
            <a:xfrm>
              <a:off x="4102989" y="1486144"/>
              <a:ext cx="3933159" cy="195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s-MX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Rectángulo 7"/>
            <p:cNvSpPr/>
            <p:nvPr/>
          </p:nvSpPr>
          <p:spPr>
            <a:xfrm>
              <a:off x="2654422" y="1487025"/>
              <a:ext cx="5940000" cy="474655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</p:grpSp>
      <p:sp>
        <p:nvSpPr>
          <p:cNvPr id="3" name="Rectángulo 2"/>
          <p:cNvSpPr/>
          <p:nvPr/>
        </p:nvSpPr>
        <p:spPr>
          <a:xfrm>
            <a:off x="633836" y="1096984"/>
            <a:ext cx="3429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MX" sz="800" dirty="0">
                <a:latin typeface="Graphik Regular" panose="020B0503030202060203" pitchFamily="34" charset="0"/>
                <a:cs typeface="Arial" panose="020B0604020202020204" pitchFamily="34" charset="0"/>
              </a:rPr>
              <a:t>Solicitudes en Materia Energética</a:t>
            </a:r>
            <a:br>
              <a:rPr lang="es-MX" sz="800" dirty="0">
                <a:latin typeface="Graphik Regular" panose="020B0503030202060203" pitchFamily="34" charset="0"/>
                <a:cs typeface="Arial" panose="020B0604020202020204" pitchFamily="34" charset="0"/>
              </a:rPr>
            </a:br>
            <a:r>
              <a:rPr lang="es-MX" sz="800" dirty="0">
                <a:latin typeface="Graphik Regular" panose="020B0503030202060203" pitchFamily="34" charset="0"/>
                <a:cs typeface="Arial" panose="020B0604020202020204" pitchFamily="34" charset="0"/>
              </a:rPr>
              <a:t>(</a:t>
            </a:r>
            <a:r>
              <a:rPr lang="es-MX" sz="800" dirty="0" err="1">
                <a:latin typeface="Graphik Regular" panose="020B0503030202060203" pitchFamily="34" charset="0"/>
                <a:cs typeface="Arial" panose="020B0604020202020204" pitchFamily="34" charset="0"/>
              </a:rPr>
              <a:t>Asesorias</a:t>
            </a:r>
            <a:r>
              <a:rPr lang="es-MX" sz="800" dirty="0">
                <a:latin typeface="Graphik Regular" panose="020B0503030202060203" pitchFamily="34" charset="0"/>
                <a:cs typeface="Arial" panose="020B0604020202020204" pitchFamily="34" charset="0"/>
              </a:rPr>
              <a:t>) 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743656" y="954044"/>
            <a:ext cx="131318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800" dirty="0">
                <a:latin typeface="Graphik Regular" panose="020B0503030202060203" pitchFamily="34" charset="0"/>
                <a:cs typeface="Arial" panose="020B0604020202020204" pitchFamily="34" charset="0"/>
              </a:rPr>
              <a:t>AEEH-2*1S.1.3/01-2020 </a:t>
            </a:r>
          </a:p>
        </p:txBody>
      </p:sp>
      <p:sp>
        <p:nvSpPr>
          <p:cNvPr id="91" name="Rectángulo 90"/>
          <p:cNvSpPr/>
          <p:nvPr/>
        </p:nvSpPr>
        <p:spPr>
          <a:xfrm>
            <a:off x="626902" y="6246093"/>
            <a:ext cx="46239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900" dirty="0">
                <a:latin typeface="Graphik Regular" panose="020B0503030202060203" pitchFamily="34" charset="0"/>
              </a:rPr>
              <a:t>Programa de apoyo a Municipios Deudores de Energía Eléctrica </a:t>
            </a:r>
            <a:br>
              <a:rPr lang="es-MX" sz="900" dirty="0">
                <a:latin typeface="Graphik Regular" panose="020B0503030202060203" pitchFamily="34" charset="0"/>
              </a:rPr>
            </a:br>
            <a:r>
              <a:rPr lang="es-MX" sz="900" dirty="0" smtClean="0">
                <a:latin typeface="Graphik Regular" panose="020B0503030202060203" pitchFamily="34" charset="0"/>
              </a:rPr>
              <a:t>en el Esquema de Generación Distribuida en Inmuebles Municipales </a:t>
            </a:r>
            <a:endParaRPr lang="es-MX" sz="900" dirty="0">
              <a:latin typeface="Graphik Regular" panose="020B0503030202060203" pitchFamily="34" charset="0"/>
            </a:endParaRPr>
          </a:p>
        </p:txBody>
      </p:sp>
      <p:sp>
        <p:nvSpPr>
          <p:cNvPr id="92" name="Rectángulo 91"/>
          <p:cNvSpPr/>
          <p:nvPr/>
        </p:nvSpPr>
        <p:spPr>
          <a:xfrm>
            <a:off x="2342228" y="4792190"/>
            <a:ext cx="142539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sz="900" dirty="0">
                <a:latin typeface="Graphik Regular" panose="020B0503030202060203" pitchFamily="34" charset="0"/>
              </a:rPr>
              <a:t>AEEH-2*1S.3/02I-2020 </a:t>
            </a:r>
          </a:p>
        </p:txBody>
      </p:sp>
      <p:grpSp>
        <p:nvGrpSpPr>
          <p:cNvPr id="111" name="Grupo 6"/>
          <p:cNvGrpSpPr/>
          <p:nvPr/>
        </p:nvGrpSpPr>
        <p:grpSpPr>
          <a:xfrm>
            <a:off x="83064" y="4778096"/>
            <a:ext cx="4869933" cy="768709"/>
            <a:chOff x="2654422" y="1487025"/>
            <a:chExt cx="5940000" cy="690458"/>
          </a:xfrm>
        </p:grpSpPr>
        <p:sp>
          <p:nvSpPr>
            <p:cNvPr id="112" name="Rectángulo 7"/>
            <p:cNvSpPr/>
            <p:nvPr/>
          </p:nvSpPr>
          <p:spPr>
            <a:xfrm>
              <a:off x="2654422" y="1487025"/>
              <a:ext cx="5940000" cy="474655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  <p:sp>
          <p:nvSpPr>
            <p:cNvPr id="115" name="CuadroTexto 10"/>
            <p:cNvSpPr txBox="1"/>
            <p:nvPr/>
          </p:nvSpPr>
          <p:spPr>
            <a:xfrm>
              <a:off x="2817144" y="1551106"/>
              <a:ext cx="1462797" cy="6263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338" dirty="0">
                  <a:solidFill>
                    <a:srgbClr val="001F31"/>
                  </a:solidFill>
                  <a:latin typeface="Graphik Medium" panose="020B0603030202060203" pitchFamily="34" charset="0"/>
                </a:rPr>
                <a:t>PROGRAMA DE </a:t>
              </a:r>
            </a:p>
            <a:p>
              <a:r>
                <a:rPr lang="es-MX" sz="338" dirty="0">
                  <a:solidFill>
                    <a:srgbClr val="001F31"/>
                  </a:solidFill>
                  <a:latin typeface="Graphik Medium" panose="020B0603030202060203" pitchFamily="34" charset="0"/>
                </a:rPr>
                <a:t>CALIDAD INSTITUCIONAL </a:t>
              </a:r>
            </a:p>
            <a:p>
              <a:r>
                <a:rPr lang="es-MX" sz="338" dirty="0">
                  <a:solidFill>
                    <a:srgbClr val="001F31"/>
                  </a:solidFill>
                  <a:latin typeface="Graphik Medium" panose="020B0603030202060203" pitchFamily="34" charset="0"/>
                </a:rPr>
                <a:t>Y MEJORA CONTINUA</a:t>
              </a:r>
            </a:p>
          </p:txBody>
        </p:sp>
      </p:grpSp>
      <p:grpSp>
        <p:nvGrpSpPr>
          <p:cNvPr id="116" name="Grupo 6"/>
          <p:cNvGrpSpPr/>
          <p:nvPr/>
        </p:nvGrpSpPr>
        <p:grpSpPr>
          <a:xfrm>
            <a:off x="89990" y="5491610"/>
            <a:ext cx="4863007" cy="703957"/>
            <a:chOff x="2654422" y="1487025"/>
            <a:chExt cx="5940000" cy="690453"/>
          </a:xfrm>
        </p:grpSpPr>
        <p:sp>
          <p:nvSpPr>
            <p:cNvPr id="117" name="Rectángulo 7"/>
            <p:cNvSpPr/>
            <p:nvPr/>
          </p:nvSpPr>
          <p:spPr>
            <a:xfrm>
              <a:off x="2654422" y="1487025"/>
              <a:ext cx="5940000" cy="474655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  <p:sp>
          <p:nvSpPr>
            <p:cNvPr id="120" name="CuadroTexto 10"/>
            <p:cNvSpPr txBox="1"/>
            <p:nvPr/>
          </p:nvSpPr>
          <p:spPr>
            <a:xfrm>
              <a:off x="2818184" y="1551102"/>
              <a:ext cx="1462799" cy="6263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338" dirty="0">
                  <a:solidFill>
                    <a:srgbClr val="001F31"/>
                  </a:solidFill>
                  <a:latin typeface="Graphik Medium" panose="020B0603030202060203" pitchFamily="34" charset="0"/>
                </a:rPr>
                <a:t>PROGRAMA DE </a:t>
              </a:r>
            </a:p>
            <a:p>
              <a:r>
                <a:rPr lang="es-MX" sz="338" dirty="0">
                  <a:solidFill>
                    <a:srgbClr val="001F31"/>
                  </a:solidFill>
                  <a:latin typeface="Graphik Medium" panose="020B0603030202060203" pitchFamily="34" charset="0"/>
                </a:rPr>
                <a:t>CALIDAD INSTITUCIONAL </a:t>
              </a:r>
            </a:p>
            <a:p>
              <a:r>
                <a:rPr lang="es-MX" sz="338" dirty="0">
                  <a:solidFill>
                    <a:srgbClr val="001F31"/>
                  </a:solidFill>
                  <a:latin typeface="Graphik Medium" panose="020B0603030202060203" pitchFamily="34" charset="0"/>
                </a:rPr>
                <a:t>Y MEJORA CONTINUA</a:t>
              </a:r>
            </a:p>
          </p:txBody>
        </p:sp>
      </p:grpSp>
      <p:grpSp>
        <p:nvGrpSpPr>
          <p:cNvPr id="121" name="Grupo 6"/>
          <p:cNvGrpSpPr/>
          <p:nvPr/>
        </p:nvGrpSpPr>
        <p:grpSpPr>
          <a:xfrm>
            <a:off x="76134" y="6101219"/>
            <a:ext cx="4876864" cy="731539"/>
            <a:chOff x="2654422" y="1487025"/>
            <a:chExt cx="5940000" cy="690453"/>
          </a:xfrm>
        </p:grpSpPr>
        <p:sp>
          <p:nvSpPr>
            <p:cNvPr id="122" name="Rectángulo 7"/>
            <p:cNvSpPr/>
            <p:nvPr/>
          </p:nvSpPr>
          <p:spPr>
            <a:xfrm>
              <a:off x="2654422" y="1487025"/>
              <a:ext cx="5940000" cy="474655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  <p:sp>
          <p:nvSpPr>
            <p:cNvPr id="125" name="CuadroTexto 10"/>
            <p:cNvSpPr txBox="1"/>
            <p:nvPr/>
          </p:nvSpPr>
          <p:spPr>
            <a:xfrm>
              <a:off x="2819719" y="1551102"/>
              <a:ext cx="1462799" cy="6263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338" dirty="0">
                  <a:solidFill>
                    <a:srgbClr val="001F31"/>
                  </a:solidFill>
                  <a:latin typeface="Graphik Medium" panose="020B0603030202060203" pitchFamily="34" charset="0"/>
                </a:rPr>
                <a:t>PROGRAMA DE </a:t>
              </a:r>
            </a:p>
            <a:p>
              <a:r>
                <a:rPr lang="es-MX" sz="338" dirty="0">
                  <a:solidFill>
                    <a:srgbClr val="001F31"/>
                  </a:solidFill>
                  <a:latin typeface="Graphik Medium" panose="020B0603030202060203" pitchFamily="34" charset="0"/>
                </a:rPr>
                <a:t>CALIDAD INSTITUCIONAL </a:t>
              </a:r>
            </a:p>
            <a:p>
              <a:r>
                <a:rPr lang="es-MX" sz="338" dirty="0">
                  <a:solidFill>
                    <a:srgbClr val="001F31"/>
                  </a:solidFill>
                  <a:latin typeface="Graphik Medium" panose="020B0603030202060203" pitchFamily="34" charset="0"/>
                </a:rPr>
                <a:t>Y MEJORA CONTINUA</a:t>
              </a:r>
            </a:p>
          </p:txBody>
        </p:sp>
      </p:grpSp>
      <p:sp>
        <p:nvSpPr>
          <p:cNvPr id="126" name="Rectángulo 125"/>
          <p:cNvSpPr/>
          <p:nvPr/>
        </p:nvSpPr>
        <p:spPr>
          <a:xfrm>
            <a:off x="2270777" y="5484916"/>
            <a:ext cx="14574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sz="900" dirty="0" smtClean="0">
                <a:latin typeface="Graphik Regular" panose="020B0503030202060203" pitchFamily="34" charset="0"/>
              </a:rPr>
              <a:t>AEEH-2*1S.3/02II-2020 </a:t>
            </a:r>
            <a:endParaRPr lang="es-MX" sz="900" dirty="0">
              <a:latin typeface="Graphik Regular" panose="020B0503030202060203" pitchFamily="34" charset="0"/>
            </a:endParaRPr>
          </a:p>
        </p:txBody>
      </p:sp>
      <p:sp>
        <p:nvSpPr>
          <p:cNvPr id="127" name="Rectángulo 126"/>
          <p:cNvSpPr/>
          <p:nvPr/>
        </p:nvSpPr>
        <p:spPr>
          <a:xfrm>
            <a:off x="2303237" y="6115300"/>
            <a:ext cx="148951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sz="900" dirty="0" smtClean="0">
                <a:latin typeface="Graphik Regular" panose="020B0503030202060203" pitchFamily="34" charset="0"/>
              </a:rPr>
              <a:t>AEEH-2*1S.3/02III-2020 </a:t>
            </a:r>
            <a:endParaRPr lang="es-MX" sz="900" dirty="0">
              <a:latin typeface="Graphik Regular" panose="020B0503030202060203" pitchFamily="34" charset="0"/>
            </a:endParaRPr>
          </a:p>
        </p:txBody>
      </p:sp>
      <p:sp>
        <p:nvSpPr>
          <p:cNvPr id="128" name="Rectángulo 127"/>
          <p:cNvSpPr/>
          <p:nvPr/>
        </p:nvSpPr>
        <p:spPr>
          <a:xfrm>
            <a:off x="633828" y="4943762"/>
            <a:ext cx="46239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900" dirty="0">
                <a:latin typeface="Graphik Regular" panose="020B0503030202060203" pitchFamily="34" charset="0"/>
              </a:rPr>
              <a:t>Programa de apoyo a Municipios Deudores de Energía Eléctrica </a:t>
            </a:r>
            <a:br>
              <a:rPr lang="es-MX" sz="900" dirty="0">
                <a:latin typeface="Graphik Regular" panose="020B0503030202060203" pitchFamily="34" charset="0"/>
              </a:rPr>
            </a:br>
            <a:r>
              <a:rPr lang="es-MX" sz="900" dirty="0" smtClean="0">
                <a:latin typeface="Graphik Regular" panose="020B0503030202060203" pitchFamily="34" charset="0"/>
              </a:rPr>
              <a:t>en el Esquema de Generación Distribuida en Inmuebles Municipales </a:t>
            </a:r>
            <a:endParaRPr lang="es-MX" sz="900" dirty="0">
              <a:latin typeface="Graphik Regular" panose="020B0503030202060203" pitchFamily="34" charset="0"/>
            </a:endParaRPr>
          </a:p>
        </p:txBody>
      </p:sp>
      <p:sp>
        <p:nvSpPr>
          <p:cNvPr id="129" name="Rectángulo 128"/>
          <p:cNvSpPr/>
          <p:nvPr/>
        </p:nvSpPr>
        <p:spPr>
          <a:xfrm>
            <a:off x="613046" y="5608775"/>
            <a:ext cx="4623962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1000" dirty="0">
                <a:latin typeface="Graphik Regular" panose="020B0503030202060203" pitchFamily="34" charset="0"/>
              </a:rPr>
              <a:t>Programa de apoyo </a:t>
            </a:r>
            <a:r>
              <a:rPr lang="es-MX" sz="900" dirty="0">
                <a:latin typeface="Graphik Regular" panose="020B0503030202060203" pitchFamily="34" charset="0"/>
              </a:rPr>
              <a:t>a Municipios Deudores de Energía Eléctrica </a:t>
            </a:r>
            <a:br>
              <a:rPr lang="es-MX" sz="900" dirty="0">
                <a:latin typeface="Graphik Regular" panose="020B0503030202060203" pitchFamily="34" charset="0"/>
              </a:rPr>
            </a:br>
            <a:r>
              <a:rPr lang="es-MX" sz="900" dirty="0" smtClean="0">
                <a:latin typeface="Graphik Regular" panose="020B0503030202060203" pitchFamily="34" charset="0"/>
              </a:rPr>
              <a:t>en el Esquema de Generación Distribuida en Inmuebles Municipales </a:t>
            </a:r>
            <a:endParaRPr lang="es-MX" sz="900" dirty="0">
              <a:latin typeface="Graphik Regular" panose="020B0503030202060203" pitchFamily="34" charset="0"/>
            </a:endParaRPr>
          </a:p>
        </p:txBody>
      </p:sp>
      <p:pic>
        <p:nvPicPr>
          <p:cNvPr id="130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34" y="5618353"/>
            <a:ext cx="137265" cy="138935"/>
          </a:xfrm>
          <a:prstGeom prst="rect">
            <a:avLst/>
          </a:prstGeom>
        </p:spPr>
      </p:pic>
      <p:grpSp>
        <p:nvGrpSpPr>
          <p:cNvPr id="131" name="Grupo 6"/>
          <p:cNvGrpSpPr/>
          <p:nvPr/>
        </p:nvGrpSpPr>
        <p:grpSpPr>
          <a:xfrm>
            <a:off x="62278" y="6731602"/>
            <a:ext cx="4890720" cy="710465"/>
            <a:chOff x="2654422" y="1487025"/>
            <a:chExt cx="5940000" cy="690452"/>
          </a:xfrm>
        </p:grpSpPr>
        <p:sp>
          <p:nvSpPr>
            <p:cNvPr id="132" name="Rectángulo 7"/>
            <p:cNvSpPr/>
            <p:nvPr/>
          </p:nvSpPr>
          <p:spPr>
            <a:xfrm>
              <a:off x="2654422" y="1487025"/>
              <a:ext cx="5940000" cy="474655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  <p:sp>
          <p:nvSpPr>
            <p:cNvPr id="135" name="CuadroTexto 10"/>
            <p:cNvSpPr txBox="1"/>
            <p:nvPr/>
          </p:nvSpPr>
          <p:spPr>
            <a:xfrm>
              <a:off x="2819719" y="1551101"/>
              <a:ext cx="1462799" cy="6263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338" dirty="0">
                  <a:solidFill>
                    <a:srgbClr val="001F31"/>
                  </a:solidFill>
                  <a:latin typeface="Graphik Medium" panose="020B0603030202060203" pitchFamily="34" charset="0"/>
                </a:rPr>
                <a:t>PROGRAMA DE </a:t>
              </a:r>
            </a:p>
            <a:p>
              <a:r>
                <a:rPr lang="es-MX" sz="338" dirty="0">
                  <a:solidFill>
                    <a:srgbClr val="001F31"/>
                  </a:solidFill>
                  <a:latin typeface="Graphik Medium" panose="020B0603030202060203" pitchFamily="34" charset="0"/>
                </a:rPr>
                <a:t>CALIDAD INSTITUCIONAL </a:t>
              </a:r>
            </a:p>
            <a:p>
              <a:r>
                <a:rPr lang="es-MX" sz="338" dirty="0">
                  <a:solidFill>
                    <a:srgbClr val="001F31"/>
                  </a:solidFill>
                  <a:latin typeface="Graphik Medium" panose="020B0603030202060203" pitchFamily="34" charset="0"/>
                </a:rPr>
                <a:t>Y MEJORA CONTINUA</a:t>
              </a:r>
            </a:p>
          </p:txBody>
        </p:sp>
      </p:grpSp>
      <p:sp>
        <p:nvSpPr>
          <p:cNvPr id="137" name="Rectángulo 136"/>
          <p:cNvSpPr/>
          <p:nvPr/>
        </p:nvSpPr>
        <p:spPr>
          <a:xfrm>
            <a:off x="2242207" y="6724896"/>
            <a:ext cx="15007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sz="900" dirty="0" smtClean="0">
                <a:latin typeface="Graphik Regular" panose="020B0503030202060203" pitchFamily="34" charset="0"/>
              </a:rPr>
              <a:t>AEEH-2*1S.3/02IV-2020 </a:t>
            </a:r>
            <a:endParaRPr lang="es-MX" sz="900" dirty="0">
              <a:latin typeface="Graphik Regular" panose="020B0503030202060203" pitchFamily="34" charset="0"/>
            </a:endParaRPr>
          </a:p>
        </p:txBody>
      </p:sp>
      <p:grpSp>
        <p:nvGrpSpPr>
          <p:cNvPr id="138" name="Grupo 6"/>
          <p:cNvGrpSpPr/>
          <p:nvPr/>
        </p:nvGrpSpPr>
        <p:grpSpPr>
          <a:xfrm>
            <a:off x="69204" y="7465900"/>
            <a:ext cx="4883793" cy="745868"/>
            <a:chOff x="2654422" y="1487025"/>
            <a:chExt cx="5940000" cy="690453"/>
          </a:xfrm>
        </p:grpSpPr>
        <p:sp>
          <p:nvSpPr>
            <p:cNvPr id="139" name="Rectángulo 7"/>
            <p:cNvSpPr/>
            <p:nvPr/>
          </p:nvSpPr>
          <p:spPr>
            <a:xfrm>
              <a:off x="2654422" y="1487025"/>
              <a:ext cx="5940000" cy="474655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  <p:sp>
          <p:nvSpPr>
            <p:cNvPr id="142" name="CuadroTexto 10"/>
            <p:cNvSpPr txBox="1"/>
            <p:nvPr/>
          </p:nvSpPr>
          <p:spPr>
            <a:xfrm>
              <a:off x="2801204" y="1551102"/>
              <a:ext cx="1462799" cy="6263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338" dirty="0">
                  <a:solidFill>
                    <a:srgbClr val="001F31"/>
                  </a:solidFill>
                  <a:latin typeface="Graphik Medium" panose="020B0603030202060203" pitchFamily="34" charset="0"/>
                </a:rPr>
                <a:t>PROGRAMA DE </a:t>
              </a:r>
            </a:p>
            <a:p>
              <a:r>
                <a:rPr lang="es-MX" sz="338" dirty="0">
                  <a:solidFill>
                    <a:srgbClr val="001F31"/>
                  </a:solidFill>
                  <a:latin typeface="Graphik Medium" panose="020B0603030202060203" pitchFamily="34" charset="0"/>
                </a:rPr>
                <a:t>CALIDAD INSTITUCIONAL </a:t>
              </a:r>
            </a:p>
            <a:p>
              <a:r>
                <a:rPr lang="es-MX" sz="338" dirty="0">
                  <a:solidFill>
                    <a:srgbClr val="001F31"/>
                  </a:solidFill>
                  <a:latin typeface="Graphik Medium" panose="020B0603030202060203" pitchFamily="34" charset="0"/>
                </a:rPr>
                <a:t>Y MEJORA CONTINUA</a:t>
              </a:r>
            </a:p>
          </p:txBody>
        </p:sp>
      </p:grpSp>
      <p:sp>
        <p:nvSpPr>
          <p:cNvPr id="148" name="Rectángulo 147"/>
          <p:cNvSpPr/>
          <p:nvPr/>
        </p:nvSpPr>
        <p:spPr>
          <a:xfrm>
            <a:off x="661536" y="6862625"/>
            <a:ext cx="46239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900" dirty="0">
                <a:latin typeface="Graphik Regular" panose="020B0503030202060203" pitchFamily="34" charset="0"/>
              </a:rPr>
              <a:t>Programa de apoyo a Municipios Deudores de Energía Eléctrica </a:t>
            </a:r>
            <a:br>
              <a:rPr lang="es-MX" sz="900" dirty="0">
                <a:latin typeface="Graphik Regular" panose="020B0503030202060203" pitchFamily="34" charset="0"/>
              </a:rPr>
            </a:br>
            <a:r>
              <a:rPr lang="es-MX" sz="900" dirty="0" smtClean="0">
                <a:latin typeface="Graphik Regular" panose="020B0503030202060203" pitchFamily="34" charset="0"/>
              </a:rPr>
              <a:t>en el Esquema de Generación Distribuida en Inmuebles Municipales </a:t>
            </a:r>
            <a:endParaRPr lang="es-MX" sz="900" dirty="0">
              <a:latin typeface="Graphik Regular" panose="020B0503030202060203" pitchFamily="34" charset="0"/>
            </a:endParaRPr>
          </a:p>
        </p:txBody>
      </p:sp>
      <p:sp>
        <p:nvSpPr>
          <p:cNvPr id="150" name="CuadroTexto 10"/>
          <p:cNvSpPr txBox="1"/>
          <p:nvPr/>
        </p:nvSpPr>
        <p:spPr>
          <a:xfrm>
            <a:off x="232700" y="939019"/>
            <a:ext cx="1255578" cy="779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INSTITUCIONAL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pic>
        <p:nvPicPr>
          <p:cNvPr id="163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45" y="990260"/>
            <a:ext cx="172181" cy="174276"/>
          </a:xfrm>
          <a:prstGeom prst="rect">
            <a:avLst/>
          </a:prstGeom>
        </p:spPr>
      </p:pic>
      <p:pic>
        <p:nvPicPr>
          <p:cNvPr id="64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35" y="6221019"/>
            <a:ext cx="144620" cy="146379"/>
          </a:xfrm>
          <a:prstGeom prst="rect">
            <a:avLst/>
          </a:prstGeom>
        </p:spPr>
      </p:pic>
      <p:pic>
        <p:nvPicPr>
          <p:cNvPr id="65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61" y="4897906"/>
            <a:ext cx="144620" cy="146379"/>
          </a:xfrm>
          <a:prstGeom prst="rect">
            <a:avLst/>
          </a:prstGeom>
        </p:spPr>
      </p:pic>
      <p:pic>
        <p:nvPicPr>
          <p:cNvPr id="66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79" y="6830618"/>
            <a:ext cx="144620" cy="146379"/>
          </a:xfrm>
          <a:prstGeom prst="rect">
            <a:avLst/>
          </a:prstGeom>
        </p:spPr>
      </p:pic>
      <p:pic>
        <p:nvPicPr>
          <p:cNvPr id="67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23" y="7585695"/>
            <a:ext cx="144620" cy="146379"/>
          </a:xfrm>
          <a:prstGeom prst="rect">
            <a:avLst/>
          </a:prstGeom>
        </p:spPr>
      </p:pic>
      <p:sp>
        <p:nvSpPr>
          <p:cNvPr id="71" name="Rectángulo 7"/>
          <p:cNvSpPr/>
          <p:nvPr/>
        </p:nvSpPr>
        <p:spPr>
          <a:xfrm>
            <a:off x="48491" y="1501051"/>
            <a:ext cx="4010413" cy="546717"/>
          </a:xfrm>
          <a:prstGeom prst="rect">
            <a:avLst/>
          </a:prstGeom>
          <a:noFill/>
          <a:ln w="57150">
            <a:solidFill>
              <a:srgbClr val="001F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MX" sz="760" dirty="0"/>
          </a:p>
        </p:txBody>
      </p:sp>
      <p:sp>
        <p:nvSpPr>
          <p:cNvPr id="80" name="Rectángulo 79"/>
          <p:cNvSpPr/>
          <p:nvPr/>
        </p:nvSpPr>
        <p:spPr>
          <a:xfrm>
            <a:off x="31162" y="1615958"/>
            <a:ext cx="49218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800" dirty="0">
                <a:latin typeface="Graphik Regular" panose="020B0503030202060203" pitchFamily="34" charset="0"/>
              </a:rPr>
              <a:t>Programa de apoyo a Municipios Deudores de Energía Eléctrica </a:t>
            </a:r>
            <a:br>
              <a:rPr lang="es-MX" sz="800" dirty="0">
                <a:latin typeface="Graphik Regular" panose="020B0503030202060203" pitchFamily="34" charset="0"/>
              </a:rPr>
            </a:br>
            <a:r>
              <a:rPr lang="es-MX" sz="800" dirty="0">
                <a:latin typeface="Graphik Regular" panose="020B0503030202060203" pitchFamily="34" charset="0"/>
              </a:rPr>
              <a:t>B</a:t>
            </a:r>
            <a:r>
              <a:rPr lang="es-MX" sz="800" dirty="0" smtClean="0">
                <a:latin typeface="Graphik Regular" panose="020B0503030202060203" pitchFamily="34" charset="0"/>
              </a:rPr>
              <a:t>eneficiarios </a:t>
            </a:r>
            <a:r>
              <a:rPr lang="es-MX" sz="800" dirty="0">
                <a:latin typeface="Graphik Regular" panose="020B0503030202060203" pitchFamily="34" charset="0"/>
              </a:rPr>
              <a:t>para el apoyo de transferencias directas a </a:t>
            </a:r>
            <a:r>
              <a:rPr lang="es-MX" sz="800" dirty="0" smtClean="0">
                <a:latin typeface="Graphik Regular" panose="020B0503030202060203" pitchFamily="34" charset="0"/>
              </a:rPr>
              <a:t>CFE</a:t>
            </a:r>
          </a:p>
          <a:p>
            <a:pPr algn="ctr"/>
            <a:r>
              <a:rPr lang="es-MX" sz="800" dirty="0" smtClean="0">
                <a:latin typeface="Graphik Regular" panose="020B0503030202060203" pitchFamily="34" charset="0"/>
              </a:rPr>
              <a:t>a </a:t>
            </a:r>
            <a:r>
              <a:rPr lang="es-MX" sz="800" dirty="0">
                <a:latin typeface="Graphik Regular" panose="020B0503030202060203" pitchFamily="34" charset="0"/>
              </a:rPr>
              <a:t>fin de amortizar o liquidar adeudos </a:t>
            </a:r>
          </a:p>
        </p:txBody>
      </p:sp>
      <p:sp>
        <p:nvSpPr>
          <p:cNvPr id="81" name="Rectángulo 80"/>
          <p:cNvSpPr/>
          <p:nvPr/>
        </p:nvSpPr>
        <p:spPr>
          <a:xfrm>
            <a:off x="819153" y="1446211"/>
            <a:ext cx="231024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sz="1200" dirty="0" smtClean="0">
                <a:latin typeface="Arial" panose="020B0604020202020204" pitchFamily="34" charset="0"/>
              </a:rPr>
              <a:t>                        </a:t>
            </a:r>
            <a:r>
              <a:rPr lang="es-MX" sz="800" dirty="0" smtClean="0">
                <a:latin typeface="Graphik Regular" panose="020B0503030202060203" pitchFamily="34" charset="0"/>
              </a:rPr>
              <a:t>AEEH-2*1S.3/01I-2020 </a:t>
            </a:r>
            <a:endParaRPr lang="es-MX" sz="800" dirty="0">
              <a:latin typeface="Graphik Regular" panose="020B0503030202060203" pitchFamily="34" charset="0"/>
            </a:endParaRPr>
          </a:p>
        </p:txBody>
      </p:sp>
      <p:sp>
        <p:nvSpPr>
          <p:cNvPr id="82" name="CuadroTexto 10"/>
          <p:cNvSpPr txBox="1"/>
          <p:nvPr/>
        </p:nvSpPr>
        <p:spPr>
          <a:xfrm>
            <a:off x="199247" y="1515842"/>
            <a:ext cx="1255578" cy="779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INSTITUCIONAL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pic>
        <p:nvPicPr>
          <p:cNvPr id="83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8" y="1544769"/>
            <a:ext cx="159479" cy="161419"/>
          </a:xfrm>
          <a:prstGeom prst="rect">
            <a:avLst/>
          </a:prstGeom>
        </p:spPr>
      </p:pic>
      <p:sp>
        <p:nvSpPr>
          <p:cNvPr id="84" name="Rectángulo 7"/>
          <p:cNvSpPr/>
          <p:nvPr/>
        </p:nvSpPr>
        <p:spPr>
          <a:xfrm>
            <a:off x="55417" y="2172583"/>
            <a:ext cx="4003487" cy="546918"/>
          </a:xfrm>
          <a:prstGeom prst="rect">
            <a:avLst/>
          </a:prstGeom>
          <a:noFill/>
          <a:ln w="57150">
            <a:solidFill>
              <a:srgbClr val="001F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MX" sz="760" dirty="0"/>
          </a:p>
        </p:txBody>
      </p:sp>
      <p:sp>
        <p:nvSpPr>
          <p:cNvPr id="87" name="Rectángulo 86"/>
          <p:cNvSpPr/>
          <p:nvPr/>
        </p:nvSpPr>
        <p:spPr>
          <a:xfrm>
            <a:off x="169702" y="2272189"/>
            <a:ext cx="46239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800" dirty="0">
                <a:latin typeface="Graphik Regular" panose="020B0503030202060203" pitchFamily="34" charset="0"/>
              </a:rPr>
              <a:t>Programa de apoyo a Municipios Deudores de Energía Eléctrica </a:t>
            </a:r>
            <a:br>
              <a:rPr lang="es-MX" sz="800" dirty="0">
                <a:latin typeface="Graphik Regular" panose="020B0503030202060203" pitchFamily="34" charset="0"/>
              </a:rPr>
            </a:br>
            <a:r>
              <a:rPr lang="es-MX" sz="800" dirty="0">
                <a:latin typeface="Graphik Regular" panose="020B0503030202060203" pitchFamily="34" charset="0"/>
              </a:rPr>
              <a:t>B</a:t>
            </a:r>
            <a:r>
              <a:rPr lang="es-MX" sz="800" dirty="0" smtClean="0">
                <a:latin typeface="Graphik Regular" panose="020B0503030202060203" pitchFamily="34" charset="0"/>
              </a:rPr>
              <a:t>eneficiarios </a:t>
            </a:r>
            <a:r>
              <a:rPr lang="es-MX" sz="800" dirty="0">
                <a:latin typeface="Graphik Regular" panose="020B0503030202060203" pitchFamily="34" charset="0"/>
              </a:rPr>
              <a:t>para el apoyo de transferencias directas a </a:t>
            </a:r>
            <a:r>
              <a:rPr lang="es-MX" sz="800" dirty="0" smtClean="0">
                <a:latin typeface="Graphik Regular" panose="020B0503030202060203" pitchFamily="34" charset="0"/>
              </a:rPr>
              <a:t>CFE</a:t>
            </a:r>
          </a:p>
          <a:p>
            <a:pPr algn="ctr"/>
            <a:r>
              <a:rPr lang="es-MX" sz="800" dirty="0" smtClean="0">
                <a:latin typeface="Graphik Regular" panose="020B0503030202060203" pitchFamily="34" charset="0"/>
              </a:rPr>
              <a:t>a </a:t>
            </a:r>
            <a:r>
              <a:rPr lang="es-MX" sz="800" dirty="0">
                <a:latin typeface="Graphik Regular" panose="020B0503030202060203" pitchFamily="34" charset="0"/>
              </a:rPr>
              <a:t>fin de amortizar o liquidar adeudos </a:t>
            </a:r>
          </a:p>
        </p:txBody>
      </p:sp>
      <p:sp>
        <p:nvSpPr>
          <p:cNvPr id="88" name="Rectángulo 87"/>
          <p:cNvSpPr/>
          <p:nvPr/>
        </p:nvSpPr>
        <p:spPr>
          <a:xfrm>
            <a:off x="1905980" y="2157958"/>
            <a:ext cx="130035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sz="800" dirty="0" smtClean="0">
                <a:latin typeface="Graphik Regular" panose="020B0503030202060203" pitchFamily="34" charset="0"/>
              </a:rPr>
              <a:t>AEEH-2*1S.3/01II-2020 </a:t>
            </a:r>
            <a:endParaRPr lang="es-MX" sz="800" dirty="0">
              <a:latin typeface="Graphik Regular" panose="020B0503030202060203" pitchFamily="34" charset="0"/>
            </a:endParaRPr>
          </a:p>
        </p:txBody>
      </p:sp>
      <p:sp>
        <p:nvSpPr>
          <p:cNvPr id="89" name="Rectángulo 7"/>
          <p:cNvSpPr/>
          <p:nvPr/>
        </p:nvSpPr>
        <p:spPr>
          <a:xfrm>
            <a:off x="63631" y="2818595"/>
            <a:ext cx="3995273" cy="567303"/>
          </a:xfrm>
          <a:prstGeom prst="rect">
            <a:avLst/>
          </a:prstGeom>
          <a:noFill/>
          <a:ln w="57150">
            <a:solidFill>
              <a:srgbClr val="001F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MX" sz="760" dirty="0"/>
          </a:p>
        </p:txBody>
      </p:sp>
      <p:sp>
        <p:nvSpPr>
          <p:cNvPr id="90" name="Rectángulo 89"/>
          <p:cNvSpPr/>
          <p:nvPr/>
        </p:nvSpPr>
        <p:spPr>
          <a:xfrm>
            <a:off x="183560" y="2935351"/>
            <a:ext cx="46239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800" dirty="0" smtClean="0">
                <a:latin typeface="Graphik Regular" panose="020B0503030202060203" pitchFamily="34" charset="0"/>
              </a:rPr>
              <a:t>Programa </a:t>
            </a:r>
            <a:r>
              <a:rPr lang="es-MX" sz="800" dirty="0">
                <a:latin typeface="Graphik Regular" panose="020B0503030202060203" pitchFamily="34" charset="0"/>
              </a:rPr>
              <a:t>de apoyo a Municipios Deudores de Energía Eléctrica </a:t>
            </a:r>
            <a:br>
              <a:rPr lang="es-MX" sz="800" dirty="0">
                <a:latin typeface="Graphik Regular" panose="020B0503030202060203" pitchFamily="34" charset="0"/>
              </a:rPr>
            </a:br>
            <a:r>
              <a:rPr lang="es-MX" sz="800" dirty="0">
                <a:latin typeface="Graphik Regular" panose="020B0503030202060203" pitchFamily="34" charset="0"/>
              </a:rPr>
              <a:t>B</a:t>
            </a:r>
            <a:r>
              <a:rPr lang="es-MX" sz="800" dirty="0" smtClean="0">
                <a:latin typeface="Graphik Regular" panose="020B0503030202060203" pitchFamily="34" charset="0"/>
              </a:rPr>
              <a:t>eneficiarios </a:t>
            </a:r>
            <a:r>
              <a:rPr lang="es-MX" sz="800" dirty="0">
                <a:latin typeface="Graphik Regular" panose="020B0503030202060203" pitchFamily="34" charset="0"/>
              </a:rPr>
              <a:t>para el apoyo de transferencias directas a </a:t>
            </a:r>
            <a:r>
              <a:rPr lang="es-MX" sz="800" dirty="0" smtClean="0">
                <a:latin typeface="Graphik Regular" panose="020B0503030202060203" pitchFamily="34" charset="0"/>
              </a:rPr>
              <a:t>CFE</a:t>
            </a:r>
          </a:p>
          <a:p>
            <a:pPr algn="ctr"/>
            <a:r>
              <a:rPr lang="es-MX" sz="800" dirty="0" smtClean="0">
                <a:latin typeface="Graphik Regular" panose="020B0503030202060203" pitchFamily="34" charset="0"/>
              </a:rPr>
              <a:t>a </a:t>
            </a:r>
            <a:r>
              <a:rPr lang="es-MX" sz="800" dirty="0">
                <a:latin typeface="Graphik Regular" panose="020B0503030202060203" pitchFamily="34" charset="0"/>
              </a:rPr>
              <a:t>fin de amortizar o liquidar adeudos </a:t>
            </a:r>
          </a:p>
        </p:txBody>
      </p:sp>
      <p:sp>
        <p:nvSpPr>
          <p:cNvPr id="93" name="Rectángulo 92"/>
          <p:cNvSpPr/>
          <p:nvPr/>
        </p:nvSpPr>
        <p:spPr>
          <a:xfrm>
            <a:off x="1836135" y="2825338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sz="800" dirty="0" smtClean="0">
                <a:latin typeface="Graphik Regular" panose="020B0503030202060203" pitchFamily="34" charset="0"/>
              </a:rPr>
              <a:t>AEEH-2*1S.3/01III-2020 </a:t>
            </a:r>
            <a:endParaRPr lang="es-MX" sz="800" dirty="0">
              <a:latin typeface="Graphik Regular" panose="020B0503030202060203" pitchFamily="34" charset="0"/>
            </a:endParaRPr>
          </a:p>
        </p:txBody>
      </p:sp>
      <p:sp>
        <p:nvSpPr>
          <p:cNvPr id="94" name="Rectángulo 7"/>
          <p:cNvSpPr/>
          <p:nvPr/>
        </p:nvSpPr>
        <p:spPr>
          <a:xfrm>
            <a:off x="59303" y="3499300"/>
            <a:ext cx="3996569" cy="589429"/>
          </a:xfrm>
          <a:prstGeom prst="rect">
            <a:avLst/>
          </a:prstGeom>
          <a:noFill/>
          <a:ln w="57150">
            <a:solidFill>
              <a:srgbClr val="001F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MX" sz="760" dirty="0"/>
          </a:p>
        </p:txBody>
      </p:sp>
      <p:sp>
        <p:nvSpPr>
          <p:cNvPr id="95" name="Rectángulo 94"/>
          <p:cNvSpPr/>
          <p:nvPr/>
        </p:nvSpPr>
        <p:spPr>
          <a:xfrm>
            <a:off x="176628" y="3643114"/>
            <a:ext cx="46239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800" dirty="0">
                <a:latin typeface="Graphik Regular" panose="020B0503030202060203" pitchFamily="34" charset="0"/>
              </a:rPr>
              <a:t>Programa de apoyo a Municipios Deudores de Energía Eléctrica </a:t>
            </a:r>
            <a:br>
              <a:rPr lang="es-MX" sz="800" dirty="0">
                <a:latin typeface="Graphik Regular" panose="020B0503030202060203" pitchFamily="34" charset="0"/>
              </a:rPr>
            </a:br>
            <a:r>
              <a:rPr lang="es-MX" sz="800" dirty="0">
                <a:latin typeface="Graphik Regular" panose="020B0503030202060203" pitchFamily="34" charset="0"/>
              </a:rPr>
              <a:t>B</a:t>
            </a:r>
            <a:r>
              <a:rPr lang="es-MX" sz="800" dirty="0" smtClean="0">
                <a:latin typeface="Graphik Regular" panose="020B0503030202060203" pitchFamily="34" charset="0"/>
              </a:rPr>
              <a:t>eneficiarios </a:t>
            </a:r>
            <a:r>
              <a:rPr lang="es-MX" sz="800" dirty="0">
                <a:latin typeface="Graphik Regular" panose="020B0503030202060203" pitchFamily="34" charset="0"/>
              </a:rPr>
              <a:t>para el apoyo de transferencias directas a </a:t>
            </a:r>
            <a:r>
              <a:rPr lang="es-MX" sz="800" dirty="0" smtClean="0">
                <a:latin typeface="Graphik Regular" panose="020B0503030202060203" pitchFamily="34" charset="0"/>
              </a:rPr>
              <a:t>CFE</a:t>
            </a:r>
          </a:p>
          <a:p>
            <a:pPr algn="ctr"/>
            <a:r>
              <a:rPr lang="es-MX" sz="800" dirty="0" smtClean="0">
                <a:latin typeface="Graphik Regular" panose="020B0503030202060203" pitchFamily="34" charset="0"/>
              </a:rPr>
              <a:t>a </a:t>
            </a:r>
            <a:r>
              <a:rPr lang="es-MX" sz="800" dirty="0">
                <a:latin typeface="Graphik Regular" panose="020B0503030202060203" pitchFamily="34" charset="0"/>
              </a:rPr>
              <a:t>fin de amortizar o liquidar adeudos </a:t>
            </a:r>
          </a:p>
        </p:txBody>
      </p:sp>
      <p:sp>
        <p:nvSpPr>
          <p:cNvPr id="96" name="Rectángulo 95"/>
          <p:cNvSpPr/>
          <p:nvPr/>
        </p:nvSpPr>
        <p:spPr>
          <a:xfrm>
            <a:off x="1796683" y="3515024"/>
            <a:ext cx="133882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sz="800" dirty="0" smtClean="0">
                <a:latin typeface="Graphik Regular" panose="020B0503030202060203" pitchFamily="34" charset="0"/>
              </a:rPr>
              <a:t>AEEH-2*1S.3/01IV-2020 </a:t>
            </a:r>
            <a:endParaRPr lang="es-MX" sz="800" dirty="0">
              <a:latin typeface="Graphik Regular" panose="020B0503030202060203" pitchFamily="34" charset="0"/>
            </a:endParaRPr>
          </a:p>
        </p:txBody>
      </p:sp>
      <p:sp>
        <p:nvSpPr>
          <p:cNvPr id="98" name="CuadroTexto 10"/>
          <p:cNvSpPr txBox="1"/>
          <p:nvPr/>
        </p:nvSpPr>
        <p:spPr>
          <a:xfrm>
            <a:off x="226771" y="2195978"/>
            <a:ext cx="1255578" cy="779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INSTITUCIONAL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pic>
        <p:nvPicPr>
          <p:cNvPr id="99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15" y="2245602"/>
            <a:ext cx="177740" cy="179902"/>
          </a:xfrm>
          <a:prstGeom prst="rect">
            <a:avLst/>
          </a:prstGeom>
        </p:spPr>
      </p:pic>
      <p:sp>
        <p:nvSpPr>
          <p:cNvPr id="100" name="CuadroTexto 10"/>
          <p:cNvSpPr txBox="1"/>
          <p:nvPr/>
        </p:nvSpPr>
        <p:spPr>
          <a:xfrm>
            <a:off x="222730" y="2829830"/>
            <a:ext cx="1255578" cy="779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INSTITUCIONAL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pic>
        <p:nvPicPr>
          <p:cNvPr id="101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22" y="2881057"/>
            <a:ext cx="170771" cy="172849"/>
          </a:xfrm>
          <a:prstGeom prst="rect">
            <a:avLst/>
          </a:prstGeom>
        </p:spPr>
      </p:pic>
      <p:sp>
        <p:nvSpPr>
          <p:cNvPr id="102" name="CuadroTexto 10"/>
          <p:cNvSpPr txBox="1"/>
          <p:nvPr/>
        </p:nvSpPr>
        <p:spPr>
          <a:xfrm>
            <a:off x="208874" y="3508365"/>
            <a:ext cx="1255578" cy="779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INSTITUCIONAL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pic>
        <p:nvPicPr>
          <p:cNvPr id="103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46" y="3559591"/>
            <a:ext cx="170771" cy="172849"/>
          </a:xfrm>
          <a:prstGeom prst="rect">
            <a:avLst/>
          </a:prstGeom>
        </p:spPr>
      </p:pic>
      <p:sp>
        <p:nvSpPr>
          <p:cNvPr id="107" name="Rectángulo 106"/>
          <p:cNvSpPr/>
          <p:nvPr/>
        </p:nvSpPr>
        <p:spPr>
          <a:xfrm>
            <a:off x="626898" y="7576135"/>
            <a:ext cx="46239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900" dirty="0">
                <a:latin typeface="Graphik Regular" panose="020B0503030202060203" pitchFamily="34" charset="0"/>
              </a:rPr>
              <a:t>Programa de apoyo a Municipios Deudores de Energía Eléctrica </a:t>
            </a:r>
            <a:br>
              <a:rPr lang="es-MX" sz="900" dirty="0">
                <a:latin typeface="Graphik Regular" panose="020B0503030202060203" pitchFamily="34" charset="0"/>
              </a:rPr>
            </a:br>
            <a:r>
              <a:rPr lang="es-MX" sz="900" dirty="0" smtClean="0">
                <a:latin typeface="Graphik Regular" panose="020B0503030202060203" pitchFamily="34" charset="0"/>
              </a:rPr>
              <a:t>en el Esquema de Generación Distribuida en Inmuebles Municipales </a:t>
            </a:r>
            <a:endParaRPr lang="es-MX" sz="900" dirty="0">
              <a:latin typeface="Graphik Regular" panose="020B0503030202060203" pitchFamily="34" charset="0"/>
            </a:endParaRPr>
          </a:p>
        </p:txBody>
      </p:sp>
      <p:sp>
        <p:nvSpPr>
          <p:cNvPr id="108" name="Rectángulo 107"/>
          <p:cNvSpPr/>
          <p:nvPr/>
        </p:nvSpPr>
        <p:spPr>
          <a:xfrm>
            <a:off x="2394607" y="7459189"/>
            <a:ext cx="150073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MX" sz="900" dirty="0" smtClean="0">
                <a:latin typeface="Graphik Regular" panose="020B0503030202060203" pitchFamily="34" charset="0"/>
              </a:rPr>
              <a:t>AEEH-2*1S.3/02V-2020 </a:t>
            </a:r>
            <a:endParaRPr lang="es-MX" sz="900" dirty="0">
              <a:latin typeface="Graphik Regular" panose="020B0503030202060203" pitchFamily="34" charset="0"/>
            </a:endParaRPr>
          </a:p>
        </p:txBody>
      </p:sp>
      <p:grpSp>
        <p:nvGrpSpPr>
          <p:cNvPr id="59" name="Grupo 3"/>
          <p:cNvGrpSpPr/>
          <p:nvPr/>
        </p:nvGrpSpPr>
        <p:grpSpPr>
          <a:xfrm>
            <a:off x="207818" y="130100"/>
            <a:ext cx="4007418" cy="451608"/>
            <a:chOff x="2654422" y="1486144"/>
            <a:chExt cx="5940000" cy="475536"/>
          </a:xfrm>
        </p:grpSpPr>
        <p:sp>
          <p:nvSpPr>
            <p:cNvPr id="60" name="CuadroTexto 4"/>
            <p:cNvSpPr txBox="1"/>
            <p:nvPr/>
          </p:nvSpPr>
          <p:spPr>
            <a:xfrm>
              <a:off x="4102989" y="1486144"/>
              <a:ext cx="3933159" cy="195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s-MX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Rectángulo 7"/>
            <p:cNvSpPr/>
            <p:nvPr/>
          </p:nvSpPr>
          <p:spPr>
            <a:xfrm>
              <a:off x="2654422" y="1487025"/>
              <a:ext cx="5940000" cy="474655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</p:grpSp>
      <p:sp>
        <p:nvSpPr>
          <p:cNvPr id="62" name="Rectángulo 61"/>
          <p:cNvSpPr/>
          <p:nvPr/>
        </p:nvSpPr>
        <p:spPr>
          <a:xfrm>
            <a:off x="501805" y="247804"/>
            <a:ext cx="357954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200" dirty="0" smtClean="0">
                <a:solidFill>
                  <a:srgbClr val="CC0000"/>
                </a:solidFill>
                <a:latin typeface="Graphik Regular" panose="020B0503030202060203" pitchFamily="34" charset="0"/>
                <a:cs typeface="Arial" panose="020B0604020202020204" pitchFamily="34" charset="0"/>
              </a:rPr>
              <a:t>                                  ETIQUETAS - 2020 </a:t>
            </a:r>
            <a:endParaRPr lang="es-MX" sz="1200" dirty="0">
              <a:solidFill>
                <a:srgbClr val="CC0000"/>
              </a:solidFill>
              <a:latin typeface="Graphik Regular" panose="020B050303020206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08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o 3"/>
          <p:cNvGrpSpPr/>
          <p:nvPr/>
        </p:nvGrpSpPr>
        <p:grpSpPr>
          <a:xfrm>
            <a:off x="48491" y="133179"/>
            <a:ext cx="4523510" cy="732532"/>
            <a:chOff x="2654422" y="1486144"/>
            <a:chExt cx="6201800" cy="630351"/>
          </a:xfrm>
        </p:grpSpPr>
        <p:sp>
          <p:nvSpPr>
            <p:cNvPr id="36" name="CuadroTexto 4"/>
            <p:cNvSpPr txBox="1"/>
            <p:nvPr/>
          </p:nvSpPr>
          <p:spPr>
            <a:xfrm>
              <a:off x="4102988" y="1486144"/>
              <a:ext cx="3933158" cy="185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AEEH-2*1S.3/03I-2020</a:t>
              </a:r>
              <a:endParaRPr lang="es-MX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endParaRPr>
            </a:p>
          </p:txBody>
        </p:sp>
        <p:sp>
          <p:nvSpPr>
            <p:cNvPr id="37" name="CuadroTexto 5"/>
            <p:cNvSpPr txBox="1"/>
            <p:nvPr/>
          </p:nvSpPr>
          <p:spPr>
            <a:xfrm>
              <a:off x="3585887" y="1586805"/>
              <a:ext cx="5270335" cy="529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Programa de Apoyo a Municipios Deudores de Energía Eléctrica </a:t>
              </a:r>
            </a:p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en el Esquema de Eficiencia Energética para Organismos Operadores </a:t>
              </a:r>
            </a:p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y Comités de Agua Potable</a:t>
              </a:r>
            </a:p>
            <a:p>
              <a:pPr algn="ctr"/>
              <a:endParaRPr lang="es-MX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</p:txBody>
        </p:sp>
        <p:grpSp>
          <p:nvGrpSpPr>
            <p:cNvPr id="38" name="Grupo 6"/>
            <p:cNvGrpSpPr/>
            <p:nvPr/>
          </p:nvGrpSpPr>
          <p:grpSpPr>
            <a:xfrm>
              <a:off x="2654422" y="1487025"/>
              <a:ext cx="5940000" cy="474655"/>
              <a:chOff x="2654422" y="1487025"/>
              <a:chExt cx="5940000" cy="474655"/>
            </a:xfrm>
          </p:grpSpPr>
          <p:sp>
            <p:nvSpPr>
              <p:cNvPr id="39" name="Rectángulo 7"/>
              <p:cNvSpPr/>
              <p:nvPr/>
            </p:nvSpPr>
            <p:spPr>
              <a:xfrm>
                <a:off x="2654422" y="1487025"/>
                <a:ext cx="5940000" cy="474655"/>
              </a:xfrm>
              <a:prstGeom prst="rect">
                <a:avLst/>
              </a:prstGeom>
              <a:noFill/>
              <a:ln w="57150">
                <a:solidFill>
                  <a:srgbClr val="001F3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s-MX" sz="760" dirty="0"/>
              </a:p>
            </p:txBody>
          </p:sp>
          <p:sp>
            <p:nvSpPr>
              <p:cNvPr id="40" name="CuadroTexto 10"/>
              <p:cNvSpPr txBox="1"/>
              <p:nvPr/>
            </p:nvSpPr>
            <p:spPr>
              <a:xfrm>
                <a:off x="2819092" y="1545560"/>
                <a:ext cx="1417917" cy="197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PROGRAMA DE </a:t>
                </a:r>
              </a:p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CALIDAD INSTITUCIONAL </a:t>
                </a:r>
              </a:p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Y MEJORA CONTINUA</a:t>
                </a:r>
              </a:p>
            </p:txBody>
          </p:sp>
        </p:grpSp>
      </p:grpSp>
      <p:grpSp>
        <p:nvGrpSpPr>
          <p:cNvPr id="48" name="Grupo 3"/>
          <p:cNvGrpSpPr/>
          <p:nvPr/>
        </p:nvGrpSpPr>
        <p:grpSpPr>
          <a:xfrm>
            <a:off x="83125" y="895176"/>
            <a:ext cx="4523510" cy="732532"/>
            <a:chOff x="2654422" y="1486144"/>
            <a:chExt cx="6201800" cy="630351"/>
          </a:xfrm>
        </p:grpSpPr>
        <p:sp>
          <p:nvSpPr>
            <p:cNvPr id="49" name="CuadroTexto 4"/>
            <p:cNvSpPr txBox="1"/>
            <p:nvPr/>
          </p:nvSpPr>
          <p:spPr>
            <a:xfrm>
              <a:off x="4102988" y="1486144"/>
              <a:ext cx="3933158" cy="185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AEEH-2*1S.3/03II-2020</a:t>
              </a:r>
              <a:endParaRPr lang="es-MX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endParaRPr>
            </a:p>
          </p:txBody>
        </p:sp>
        <p:sp>
          <p:nvSpPr>
            <p:cNvPr id="50" name="CuadroTexto 5"/>
            <p:cNvSpPr txBox="1"/>
            <p:nvPr/>
          </p:nvSpPr>
          <p:spPr>
            <a:xfrm>
              <a:off x="3585887" y="1586805"/>
              <a:ext cx="5270335" cy="529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Programa de Apoyo a Municipios Deudores de Energía Eléctrica </a:t>
              </a:r>
            </a:p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en el Esquema de Eficiencia Energética para Organismos Operadores </a:t>
              </a:r>
            </a:p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y Comités de Agua Potable</a:t>
              </a:r>
            </a:p>
            <a:p>
              <a:pPr algn="ctr"/>
              <a:endParaRPr lang="es-MX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</p:txBody>
        </p:sp>
        <p:grpSp>
          <p:nvGrpSpPr>
            <p:cNvPr id="51" name="Grupo 6"/>
            <p:cNvGrpSpPr/>
            <p:nvPr/>
          </p:nvGrpSpPr>
          <p:grpSpPr>
            <a:xfrm>
              <a:off x="2654422" y="1487025"/>
              <a:ext cx="5940000" cy="474655"/>
              <a:chOff x="2654422" y="1487025"/>
              <a:chExt cx="5940000" cy="474655"/>
            </a:xfrm>
          </p:grpSpPr>
          <p:sp>
            <p:nvSpPr>
              <p:cNvPr id="52" name="Rectángulo 7"/>
              <p:cNvSpPr/>
              <p:nvPr/>
            </p:nvSpPr>
            <p:spPr>
              <a:xfrm>
                <a:off x="2654422" y="1487025"/>
                <a:ext cx="5940000" cy="474655"/>
              </a:xfrm>
              <a:prstGeom prst="rect">
                <a:avLst/>
              </a:prstGeom>
              <a:noFill/>
              <a:ln w="57150">
                <a:solidFill>
                  <a:srgbClr val="001F3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s-MX" sz="760" dirty="0"/>
              </a:p>
            </p:txBody>
          </p:sp>
          <p:sp>
            <p:nvSpPr>
              <p:cNvPr id="53" name="CuadroTexto 10"/>
              <p:cNvSpPr txBox="1"/>
              <p:nvPr/>
            </p:nvSpPr>
            <p:spPr>
              <a:xfrm>
                <a:off x="2847584" y="1527677"/>
                <a:ext cx="1417917" cy="197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PROGRAMA DE </a:t>
                </a:r>
              </a:p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CALIDAD INSTITUCIONAL </a:t>
                </a:r>
              </a:p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Y MEJORA CONTINUA</a:t>
                </a:r>
              </a:p>
            </p:txBody>
          </p:sp>
        </p:grpSp>
      </p:grpSp>
      <p:grpSp>
        <p:nvGrpSpPr>
          <p:cNvPr id="54" name="Grupo 3"/>
          <p:cNvGrpSpPr/>
          <p:nvPr/>
        </p:nvGrpSpPr>
        <p:grpSpPr>
          <a:xfrm>
            <a:off x="90055" y="1629471"/>
            <a:ext cx="4523510" cy="732532"/>
            <a:chOff x="2654422" y="1486144"/>
            <a:chExt cx="6201800" cy="630351"/>
          </a:xfrm>
        </p:grpSpPr>
        <p:sp>
          <p:nvSpPr>
            <p:cNvPr id="55" name="CuadroTexto 4"/>
            <p:cNvSpPr txBox="1"/>
            <p:nvPr/>
          </p:nvSpPr>
          <p:spPr>
            <a:xfrm>
              <a:off x="4102988" y="1486144"/>
              <a:ext cx="3933158" cy="185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AEEH-2*1S.3/03III-2020</a:t>
              </a:r>
              <a:endParaRPr lang="es-MX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endParaRPr>
            </a:p>
          </p:txBody>
        </p:sp>
        <p:sp>
          <p:nvSpPr>
            <p:cNvPr id="56" name="CuadroTexto 5"/>
            <p:cNvSpPr txBox="1"/>
            <p:nvPr/>
          </p:nvSpPr>
          <p:spPr>
            <a:xfrm>
              <a:off x="3585887" y="1586805"/>
              <a:ext cx="5270335" cy="529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Programa de Apoyo a Municipios Deudores de Energía Eléctrica </a:t>
              </a:r>
            </a:p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en el Esquema de Eficiencia Energética para Organismos Operadores </a:t>
              </a:r>
            </a:p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y Comités de Agua Potable</a:t>
              </a:r>
            </a:p>
            <a:p>
              <a:pPr algn="ctr"/>
              <a:endParaRPr lang="es-MX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</p:txBody>
        </p:sp>
        <p:grpSp>
          <p:nvGrpSpPr>
            <p:cNvPr id="57" name="Grupo 6"/>
            <p:cNvGrpSpPr/>
            <p:nvPr/>
          </p:nvGrpSpPr>
          <p:grpSpPr>
            <a:xfrm>
              <a:off x="2654422" y="1487025"/>
              <a:ext cx="5940000" cy="474655"/>
              <a:chOff x="2654422" y="1487025"/>
              <a:chExt cx="5940000" cy="474655"/>
            </a:xfrm>
          </p:grpSpPr>
          <p:sp>
            <p:nvSpPr>
              <p:cNvPr id="58" name="Rectángulo 7"/>
              <p:cNvSpPr/>
              <p:nvPr/>
            </p:nvSpPr>
            <p:spPr>
              <a:xfrm>
                <a:off x="2654422" y="1487025"/>
                <a:ext cx="5940000" cy="474655"/>
              </a:xfrm>
              <a:prstGeom prst="rect">
                <a:avLst/>
              </a:prstGeom>
              <a:noFill/>
              <a:ln w="57150">
                <a:solidFill>
                  <a:srgbClr val="001F3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s-MX" sz="760" dirty="0"/>
              </a:p>
            </p:txBody>
          </p:sp>
          <p:sp>
            <p:nvSpPr>
              <p:cNvPr id="59" name="CuadroTexto 10"/>
              <p:cNvSpPr txBox="1"/>
              <p:nvPr/>
            </p:nvSpPr>
            <p:spPr>
              <a:xfrm>
                <a:off x="2819092" y="1545560"/>
                <a:ext cx="1417917" cy="197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PROGRAMA DE </a:t>
                </a:r>
              </a:p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CALIDAD INSTITUCIONAL </a:t>
                </a:r>
              </a:p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Y MEJORA CONTINUA</a:t>
                </a:r>
              </a:p>
            </p:txBody>
          </p:sp>
        </p:grpSp>
      </p:grpSp>
      <p:grpSp>
        <p:nvGrpSpPr>
          <p:cNvPr id="60" name="Grupo 3"/>
          <p:cNvGrpSpPr/>
          <p:nvPr/>
        </p:nvGrpSpPr>
        <p:grpSpPr>
          <a:xfrm>
            <a:off x="110837" y="2344149"/>
            <a:ext cx="4332557" cy="552621"/>
            <a:chOff x="2654422" y="1486144"/>
            <a:chExt cx="5940000" cy="475536"/>
          </a:xfrm>
        </p:grpSpPr>
        <p:sp>
          <p:nvSpPr>
            <p:cNvPr id="61" name="CuadroTexto 4"/>
            <p:cNvSpPr txBox="1"/>
            <p:nvPr/>
          </p:nvSpPr>
          <p:spPr>
            <a:xfrm>
              <a:off x="4102988" y="1486144"/>
              <a:ext cx="3933158" cy="185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AEEH-2*1S.3/03IV-2020</a:t>
              </a:r>
              <a:endParaRPr lang="es-MX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endParaRPr>
            </a:p>
          </p:txBody>
        </p:sp>
        <p:grpSp>
          <p:nvGrpSpPr>
            <p:cNvPr id="63" name="Grupo 6"/>
            <p:cNvGrpSpPr/>
            <p:nvPr/>
          </p:nvGrpSpPr>
          <p:grpSpPr>
            <a:xfrm>
              <a:off x="2654422" y="1487025"/>
              <a:ext cx="5940000" cy="474655"/>
              <a:chOff x="2654422" y="1487025"/>
              <a:chExt cx="5940000" cy="474655"/>
            </a:xfrm>
          </p:grpSpPr>
          <p:sp>
            <p:nvSpPr>
              <p:cNvPr id="64" name="Rectángulo 7"/>
              <p:cNvSpPr/>
              <p:nvPr/>
            </p:nvSpPr>
            <p:spPr>
              <a:xfrm>
                <a:off x="2654422" y="1487025"/>
                <a:ext cx="5940000" cy="474655"/>
              </a:xfrm>
              <a:prstGeom prst="rect">
                <a:avLst/>
              </a:prstGeom>
              <a:noFill/>
              <a:ln w="57150">
                <a:solidFill>
                  <a:srgbClr val="001F3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s-MX" sz="760" dirty="0"/>
              </a:p>
            </p:txBody>
          </p:sp>
          <p:sp>
            <p:nvSpPr>
              <p:cNvPr id="65" name="CuadroTexto 10"/>
              <p:cNvSpPr txBox="1"/>
              <p:nvPr/>
            </p:nvSpPr>
            <p:spPr>
              <a:xfrm>
                <a:off x="2847584" y="1545560"/>
                <a:ext cx="1417917" cy="197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PROGRAMA DE </a:t>
                </a:r>
              </a:p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CALIDAD INSTITUCIONAL </a:t>
                </a:r>
              </a:p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Y MEJORA CONTINUA</a:t>
                </a:r>
              </a:p>
            </p:txBody>
          </p:sp>
        </p:grpSp>
      </p:grpSp>
      <p:grpSp>
        <p:nvGrpSpPr>
          <p:cNvPr id="66" name="Grupo 3"/>
          <p:cNvGrpSpPr/>
          <p:nvPr/>
        </p:nvGrpSpPr>
        <p:grpSpPr>
          <a:xfrm>
            <a:off x="103908" y="3077267"/>
            <a:ext cx="4523510" cy="732532"/>
            <a:chOff x="2654422" y="1486144"/>
            <a:chExt cx="6201800" cy="630351"/>
          </a:xfrm>
        </p:grpSpPr>
        <p:sp>
          <p:nvSpPr>
            <p:cNvPr id="67" name="CuadroTexto 4"/>
            <p:cNvSpPr txBox="1"/>
            <p:nvPr/>
          </p:nvSpPr>
          <p:spPr>
            <a:xfrm>
              <a:off x="4102988" y="1486144"/>
              <a:ext cx="3933158" cy="185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AEEH-2*1S.3/03V-2020</a:t>
              </a:r>
              <a:endParaRPr lang="es-MX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endParaRPr>
            </a:p>
          </p:txBody>
        </p:sp>
        <p:sp>
          <p:nvSpPr>
            <p:cNvPr id="68" name="CuadroTexto 5"/>
            <p:cNvSpPr txBox="1"/>
            <p:nvPr/>
          </p:nvSpPr>
          <p:spPr>
            <a:xfrm>
              <a:off x="3585887" y="1586805"/>
              <a:ext cx="5270335" cy="529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Programa de Apoyo a Municipios Deudores de Energía Eléctrica </a:t>
              </a:r>
            </a:p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en el Esquema de Eficiencia Energética para Organismos Operadores </a:t>
              </a:r>
            </a:p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y Comités de Agua Potable</a:t>
              </a:r>
            </a:p>
            <a:p>
              <a:pPr algn="ctr"/>
              <a:endParaRPr lang="es-MX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</p:txBody>
        </p:sp>
        <p:grpSp>
          <p:nvGrpSpPr>
            <p:cNvPr id="69" name="Grupo 6"/>
            <p:cNvGrpSpPr/>
            <p:nvPr/>
          </p:nvGrpSpPr>
          <p:grpSpPr>
            <a:xfrm>
              <a:off x="2654422" y="1487025"/>
              <a:ext cx="5940000" cy="474655"/>
              <a:chOff x="2654422" y="1487025"/>
              <a:chExt cx="5940000" cy="474655"/>
            </a:xfrm>
          </p:grpSpPr>
          <p:sp>
            <p:nvSpPr>
              <p:cNvPr id="70" name="Rectángulo 7"/>
              <p:cNvSpPr/>
              <p:nvPr/>
            </p:nvSpPr>
            <p:spPr>
              <a:xfrm>
                <a:off x="2654422" y="1487025"/>
                <a:ext cx="5940000" cy="474655"/>
              </a:xfrm>
              <a:prstGeom prst="rect">
                <a:avLst/>
              </a:prstGeom>
              <a:noFill/>
              <a:ln w="57150">
                <a:solidFill>
                  <a:srgbClr val="001F3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s-MX" sz="760" dirty="0"/>
              </a:p>
            </p:txBody>
          </p:sp>
          <p:sp>
            <p:nvSpPr>
              <p:cNvPr id="71" name="CuadroTexto 10"/>
              <p:cNvSpPr txBox="1"/>
              <p:nvPr/>
            </p:nvSpPr>
            <p:spPr>
              <a:xfrm>
                <a:off x="2847584" y="1545560"/>
                <a:ext cx="1417917" cy="197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PROGRAMA DE </a:t>
                </a:r>
              </a:p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CALIDAD INSTITUCIONAL </a:t>
                </a:r>
              </a:p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Y MEJORA CONTINUA</a:t>
                </a:r>
              </a:p>
            </p:txBody>
          </p:sp>
        </p:grpSp>
      </p:grpSp>
      <p:pic>
        <p:nvPicPr>
          <p:cNvPr id="72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98" y="991341"/>
            <a:ext cx="142931" cy="169478"/>
          </a:xfrm>
          <a:prstGeom prst="rect">
            <a:avLst/>
          </a:prstGeom>
        </p:spPr>
      </p:pic>
      <p:sp>
        <p:nvSpPr>
          <p:cNvPr id="73" name="CuadroTexto 5"/>
          <p:cNvSpPr txBox="1"/>
          <p:nvPr/>
        </p:nvSpPr>
        <p:spPr>
          <a:xfrm>
            <a:off x="831796" y="2453028"/>
            <a:ext cx="3844112" cy="615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rPr>
              <a:t>Programa de Apoyo a Municipios Deudores de Energía Eléctrica </a:t>
            </a:r>
          </a:p>
          <a:p>
            <a:pPr algn="ctr"/>
            <a:r>
              <a:rPr lang="es-MX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rPr>
              <a:t>en el Esquema de Eficiencia Energética para Organismos Operadores </a:t>
            </a:r>
          </a:p>
          <a:p>
            <a:pPr algn="ctr"/>
            <a:r>
              <a:rPr lang="es-MX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rPr>
              <a:t>y Comités de Agua Potable</a:t>
            </a:r>
          </a:p>
          <a:p>
            <a:pPr algn="ctr"/>
            <a:endParaRPr lang="es-MX" sz="1000" dirty="0">
              <a:solidFill>
                <a:schemeClr val="tx1">
                  <a:lumMod val="75000"/>
                  <a:lumOff val="25000"/>
                </a:schemeClr>
              </a:solidFill>
              <a:latin typeface="Graphik Regular" panose="020B0503030202060203" pitchFamily="34" charset="0"/>
            </a:endParaRPr>
          </a:p>
        </p:txBody>
      </p:sp>
      <p:pic>
        <p:nvPicPr>
          <p:cNvPr id="78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24" y="2453001"/>
            <a:ext cx="142931" cy="169478"/>
          </a:xfrm>
          <a:prstGeom prst="rect">
            <a:avLst/>
          </a:prstGeom>
        </p:spPr>
      </p:pic>
      <p:pic>
        <p:nvPicPr>
          <p:cNvPr id="80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68" y="1753347"/>
            <a:ext cx="133739" cy="158579"/>
          </a:xfrm>
          <a:prstGeom prst="rect">
            <a:avLst/>
          </a:prstGeom>
        </p:spPr>
      </p:pic>
      <p:pic>
        <p:nvPicPr>
          <p:cNvPr id="81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06" y="3180355"/>
            <a:ext cx="136005" cy="161265"/>
          </a:xfrm>
          <a:prstGeom prst="rect">
            <a:avLst/>
          </a:prstGeom>
        </p:spPr>
      </p:pic>
      <p:pic>
        <p:nvPicPr>
          <p:cNvPr id="82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78" y="250126"/>
            <a:ext cx="142931" cy="16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31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upo 3"/>
          <p:cNvGrpSpPr/>
          <p:nvPr/>
        </p:nvGrpSpPr>
        <p:grpSpPr>
          <a:xfrm>
            <a:off x="90054" y="58160"/>
            <a:ext cx="4710548" cy="629219"/>
            <a:chOff x="2654422" y="1485084"/>
            <a:chExt cx="6219520" cy="2003825"/>
          </a:xfrm>
        </p:grpSpPr>
        <p:sp>
          <p:nvSpPr>
            <p:cNvPr id="40" name="CuadroTexto 4"/>
            <p:cNvSpPr txBox="1"/>
            <p:nvPr/>
          </p:nvSpPr>
          <p:spPr>
            <a:xfrm>
              <a:off x="4267624" y="1485084"/>
              <a:ext cx="3933159" cy="5388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AEEH-2*1S.3/04-2020</a:t>
              </a:r>
              <a:endParaRPr lang="es-MX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endParaRPr>
            </a:p>
          </p:txBody>
        </p:sp>
        <p:sp>
          <p:nvSpPr>
            <p:cNvPr id="41" name="CuadroTexto 5"/>
            <p:cNvSpPr txBox="1"/>
            <p:nvPr/>
          </p:nvSpPr>
          <p:spPr>
            <a:xfrm>
              <a:off x="3603606" y="1855172"/>
              <a:ext cx="5270336" cy="1633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Proyecto de Instalación y Operación de una Planta de</a:t>
              </a:r>
            </a:p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 Generación de Energía Eléctrica en </a:t>
              </a:r>
              <a:r>
                <a:rPr lang="es-MX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Tepojaco</a:t>
              </a:r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, Municipio de Tizayuca, </a:t>
              </a:r>
              <a:r>
                <a:rPr lang="es-MX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Hgo</a:t>
              </a:r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. </a:t>
              </a:r>
            </a:p>
            <a:p>
              <a:pPr algn="ctr"/>
              <a:r>
                <a:rPr lang="es-MX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Volarsum</a:t>
              </a:r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, S.A. de C.V.</a:t>
              </a:r>
            </a:p>
            <a:p>
              <a:pPr algn="ctr"/>
              <a:endParaRPr lang="es-MX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</p:txBody>
        </p:sp>
        <p:sp>
          <p:nvSpPr>
            <p:cNvPr id="43" name="Rectángulo 7"/>
            <p:cNvSpPr/>
            <p:nvPr/>
          </p:nvSpPr>
          <p:spPr>
            <a:xfrm>
              <a:off x="2654422" y="1487024"/>
              <a:ext cx="5939999" cy="1753474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</p:grpSp>
      <p:sp>
        <p:nvSpPr>
          <p:cNvPr id="60" name="CuadroTexto 10"/>
          <p:cNvSpPr txBox="1"/>
          <p:nvPr/>
        </p:nvSpPr>
        <p:spPr>
          <a:xfrm>
            <a:off x="234045" y="105058"/>
            <a:ext cx="1129187" cy="248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</a:t>
            </a:r>
            <a:r>
              <a:rPr lang="es-MX" sz="338" dirty="0" err="1" smtClean="0">
                <a:solidFill>
                  <a:srgbClr val="001F31"/>
                </a:solidFill>
                <a:latin typeface="Graphik Medium" panose="020B0603030202060203" pitchFamily="34" charset="0"/>
              </a:rPr>
              <a:t>IcNSTITUCIONAL</a:t>
            </a:r>
            <a:r>
              <a:rPr lang="es-MX" sz="338" dirty="0" smtClean="0">
                <a:solidFill>
                  <a:srgbClr val="001F31"/>
                </a:solidFill>
                <a:latin typeface="Graphik Medium" panose="020B0603030202060203" pitchFamily="34" charset="0"/>
              </a:rPr>
              <a:t> </a:t>
            </a:r>
            <a:endParaRPr lang="es-MX" sz="338" dirty="0">
              <a:solidFill>
                <a:srgbClr val="001F31"/>
              </a:solidFill>
              <a:latin typeface="Graphik Medium" panose="020B0603030202060203" pitchFamily="34" charset="0"/>
            </a:endParaRP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pic>
        <p:nvPicPr>
          <p:cNvPr id="61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83" y="156496"/>
            <a:ext cx="152400" cy="174153"/>
          </a:xfrm>
          <a:prstGeom prst="rect">
            <a:avLst/>
          </a:prstGeom>
        </p:spPr>
      </p:pic>
      <p:pic>
        <p:nvPicPr>
          <p:cNvPr id="64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32" y="846354"/>
            <a:ext cx="172215" cy="196796"/>
          </a:xfrm>
          <a:prstGeom prst="rect">
            <a:avLst/>
          </a:prstGeom>
        </p:spPr>
      </p:pic>
      <p:pic>
        <p:nvPicPr>
          <p:cNvPr id="65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79" y="2622263"/>
            <a:ext cx="152400" cy="174153"/>
          </a:xfrm>
          <a:prstGeom prst="rect">
            <a:avLst/>
          </a:prstGeom>
        </p:spPr>
      </p:pic>
      <p:pic>
        <p:nvPicPr>
          <p:cNvPr id="68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39" y="2121815"/>
            <a:ext cx="152400" cy="174153"/>
          </a:xfrm>
          <a:prstGeom prst="rect">
            <a:avLst/>
          </a:prstGeom>
        </p:spPr>
      </p:pic>
      <p:grpSp>
        <p:nvGrpSpPr>
          <p:cNvPr id="77" name="Grupo 3"/>
          <p:cNvGrpSpPr/>
          <p:nvPr/>
        </p:nvGrpSpPr>
        <p:grpSpPr>
          <a:xfrm>
            <a:off x="83124" y="773298"/>
            <a:ext cx="4499147" cy="558674"/>
            <a:chOff x="2654422" y="1487024"/>
            <a:chExt cx="6300948" cy="1753474"/>
          </a:xfrm>
        </p:grpSpPr>
        <p:sp>
          <p:nvSpPr>
            <p:cNvPr id="79" name="CuadroTexto 5"/>
            <p:cNvSpPr txBox="1"/>
            <p:nvPr/>
          </p:nvSpPr>
          <p:spPr>
            <a:xfrm>
              <a:off x="3685035" y="1752929"/>
              <a:ext cx="5270335" cy="1163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Programa de apoyo a Municipios Deudores de Energía Eléctrica</a:t>
              </a:r>
            </a:p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para el Ejercicio Fiscal  2020</a:t>
              </a:r>
            </a:p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 </a:t>
              </a:r>
              <a:r>
                <a:rPr lang="es-MX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Fracc</a:t>
              </a:r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. Villa Margarita y Parque los Encinos </a:t>
              </a:r>
            </a:p>
            <a:p>
              <a:pPr algn="ctr"/>
              <a:endParaRPr lang="es-MX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</p:txBody>
        </p:sp>
        <p:sp>
          <p:nvSpPr>
            <p:cNvPr id="80" name="Rectángulo 7"/>
            <p:cNvSpPr/>
            <p:nvPr/>
          </p:nvSpPr>
          <p:spPr>
            <a:xfrm>
              <a:off x="2654422" y="1487024"/>
              <a:ext cx="5939999" cy="1753474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</p:grpSp>
      <p:grpSp>
        <p:nvGrpSpPr>
          <p:cNvPr id="81" name="Grupo 3"/>
          <p:cNvGrpSpPr/>
          <p:nvPr/>
        </p:nvGrpSpPr>
        <p:grpSpPr>
          <a:xfrm>
            <a:off x="90056" y="2074129"/>
            <a:ext cx="4323352" cy="437338"/>
            <a:chOff x="2654422" y="1487024"/>
            <a:chExt cx="6109763" cy="1892184"/>
          </a:xfrm>
        </p:grpSpPr>
        <p:sp>
          <p:nvSpPr>
            <p:cNvPr id="83" name="CuadroTexto 5"/>
            <p:cNvSpPr txBox="1"/>
            <p:nvPr/>
          </p:nvSpPr>
          <p:spPr>
            <a:xfrm>
              <a:off x="3493849" y="1769485"/>
              <a:ext cx="5270336" cy="1609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Proyecto de Instalación de un Parque Fotovoltaico</a:t>
              </a:r>
            </a:p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 Municipio de Villa de Tezontepec, </a:t>
              </a:r>
              <a:r>
                <a:rPr lang="es-MX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Hgo</a:t>
              </a:r>
              <a:r>
                <a:rPr lang="es-MX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.</a:t>
              </a:r>
              <a:endParaRPr lang="es-MX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  <a:p>
              <a:pPr algn="ctr"/>
              <a:endParaRPr lang="es-MX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</p:txBody>
        </p:sp>
        <p:sp>
          <p:nvSpPr>
            <p:cNvPr id="84" name="Rectángulo 7"/>
            <p:cNvSpPr/>
            <p:nvPr/>
          </p:nvSpPr>
          <p:spPr>
            <a:xfrm>
              <a:off x="2654422" y="1487024"/>
              <a:ext cx="5939999" cy="1753474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</p:grpSp>
      <p:grpSp>
        <p:nvGrpSpPr>
          <p:cNvPr id="85" name="Grupo 3"/>
          <p:cNvGrpSpPr/>
          <p:nvPr/>
        </p:nvGrpSpPr>
        <p:grpSpPr>
          <a:xfrm>
            <a:off x="76198" y="2570998"/>
            <a:ext cx="4530103" cy="572044"/>
            <a:chOff x="2654422" y="1487024"/>
            <a:chExt cx="6204176" cy="1794677"/>
          </a:xfrm>
        </p:grpSpPr>
        <p:sp>
          <p:nvSpPr>
            <p:cNvPr id="87" name="CuadroTexto 5"/>
            <p:cNvSpPr txBox="1"/>
            <p:nvPr/>
          </p:nvSpPr>
          <p:spPr>
            <a:xfrm>
              <a:off x="3588261" y="1787929"/>
              <a:ext cx="5270337" cy="1493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Interconexión y Factibilidad de Transporte al Ducto de Gas Natural</a:t>
              </a:r>
            </a:p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“Zempoala Santa Ana” con Consorcio </a:t>
              </a:r>
              <a:r>
                <a:rPr lang="es-MX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Mexi</a:t>
              </a:r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 Gas S.A. de C.V.</a:t>
              </a:r>
            </a:p>
            <a:p>
              <a:pPr algn="ctr"/>
              <a:r>
                <a:rPr lang="es-MX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Engie</a:t>
              </a:r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 México</a:t>
              </a:r>
              <a:endParaRPr lang="es-MX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</p:txBody>
        </p:sp>
        <p:sp>
          <p:nvSpPr>
            <p:cNvPr id="88" name="Rectángulo 7"/>
            <p:cNvSpPr/>
            <p:nvPr/>
          </p:nvSpPr>
          <p:spPr>
            <a:xfrm>
              <a:off x="2654422" y="1487024"/>
              <a:ext cx="5818291" cy="1753475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</p:grpSp>
      <p:sp>
        <p:nvSpPr>
          <p:cNvPr id="96" name="CuadroTexto 4"/>
          <p:cNvSpPr txBox="1"/>
          <p:nvPr/>
        </p:nvSpPr>
        <p:spPr>
          <a:xfrm>
            <a:off x="1258585" y="754947"/>
            <a:ext cx="28718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rPr>
              <a:t>AEEH-2*1S.3/05-2020</a:t>
            </a:r>
            <a:endParaRPr lang="es-MX" sz="800" dirty="0">
              <a:solidFill>
                <a:schemeClr val="tx1">
                  <a:lumMod val="75000"/>
                  <a:lumOff val="25000"/>
                </a:schemeClr>
              </a:solidFill>
              <a:latin typeface="Graphik Medium" panose="020B0603030202060203" pitchFamily="34" charset="0"/>
            </a:endParaRPr>
          </a:p>
        </p:txBody>
      </p:sp>
      <p:sp>
        <p:nvSpPr>
          <p:cNvPr id="99" name="CuadroTexto 4"/>
          <p:cNvSpPr txBox="1"/>
          <p:nvPr/>
        </p:nvSpPr>
        <p:spPr>
          <a:xfrm>
            <a:off x="1244732" y="1422844"/>
            <a:ext cx="28718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rPr>
              <a:t>AEEH-2*1S.3/06-2020</a:t>
            </a:r>
            <a:endParaRPr lang="es-MX" sz="800" dirty="0">
              <a:solidFill>
                <a:schemeClr val="tx1">
                  <a:lumMod val="75000"/>
                  <a:lumOff val="25000"/>
                </a:schemeClr>
              </a:solidFill>
              <a:latin typeface="Graphik Medium" panose="020B0603030202060203" pitchFamily="34" charset="0"/>
            </a:endParaRPr>
          </a:p>
        </p:txBody>
      </p:sp>
      <p:sp>
        <p:nvSpPr>
          <p:cNvPr id="100" name="CuadroTexto 4"/>
          <p:cNvSpPr txBox="1"/>
          <p:nvPr/>
        </p:nvSpPr>
        <p:spPr>
          <a:xfrm>
            <a:off x="1251663" y="2066911"/>
            <a:ext cx="28718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rPr>
              <a:t>AEEH-2*1S.3/07-2020</a:t>
            </a:r>
            <a:endParaRPr lang="es-MX" sz="800" dirty="0">
              <a:solidFill>
                <a:schemeClr val="tx1">
                  <a:lumMod val="75000"/>
                  <a:lumOff val="25000"/>
                </a:schemeClr>
              </a:solidFill>
              <a:latin typeface="Graphik Medium" panose="020B0603030202060203" pitchFamily="34" charset="0"/>
            </a:endParaRPr>
          </a:p>
        </p:txBody>
      </p:sp>
      <p:sp>
        <p:nvSpPr>
          <p:cNvPr id="105" name="CuadroTexto 4"/>
          <p:cNvSpPr txBox="1"/>
          <p:nvPr/>
        </p:nvSpPr>
        <p:spPr>
          <a:xfrm>
            <a:off x="1300152" y="2558907"/>
            <a:ext cx="28718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rPr>
              <a:t>AEEH-2*1S.3/08-2020</a:t>
            </a:r>
            <a:endParaRPr lang="es-MX" sz="800" dirty="0">
              <a:solidFill>
                <a:schemeClr val="tx1">
                  <a:lumMod val="75000"/>
                  <a:lumOff val="25000"/>
                </a:schemeClr>
              </a:solidFill>
              <a:latin typeface="Graphik Medium" panose="020B0603030202060203" pitchFamily="34" charset="0"/>
            </a:endParaRPr>
          </a:p>
        </p:txBody>
      </p:sp>
      <p:grpSp>
        <p:nvGrpSpPr>
          <p:cNvPr id="107" name="Grupo 3"/>
          <p:cNvGrpSpPr/>
          <p:nvPr/>
        </p:nvGrpSpPr>
        <p:grpSpPr>
          <a:xfrm>
            <a:off x="76200" y="1453850"/>
            <a:ext cx="4337206" cy="604430"/>
            <a:chOff x="2654422" y="1487024"/>
            <a:chExt cx="6109763" cy="1993462"/>
          </a:xfrm>
        </p:grpSpPr>
        <p:sp>
          <p:nvSpPr>
            <p:cNvPr id="109" name="CuadroTexto 5"/>
            <p:cNvSpPr txBox="1"/>
            <p:nvPr/>
          </p:nvSpPr>
          <p:spPr>
            <a:xfrm>
              <a:off x="3493849" y="1757481"/>
              <a:ext cx="5270336" cy="1723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Proyecto de Generación de Energía Limpia de </a:t>
              </a:r>
              <a:r>
                <a:rPr lang="es-MX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 </a:t>
              </a:r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la Central</a:t>
              </a:r>
            </a:p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Fotovoltaica del Municipio de Nopala de </a:t>
              </a:r>
              <a:r>
                <a:rPr lang="es-MX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Villagran</a:t>
              </a:r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 </a:t>
              </a:r>
            </a:p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Atlas </a:t>
              </a:r>
              <a:r>
                <a:rPr lang="es-MX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Renewable</a:t>
              </a:r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 </a:t>
              </a:r>
              <a:r>
                <a:rPr lang="es-MX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Energy</a:t>
              </a:r>
              <a:endParaRPr lang="es-MX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  <a:p>
              <a:pPr algn="ctr"/>
              <a:endParaRPr lang="es-MX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</p:txBody>
        </p:sp>
        <p:sp>
          <p:nvSpPr>
            <p:cNvPr id="120" name="Rectángulo 7"/>
            <p:cNvSpPr/>
            <p:nvPr/>
          </p:nvSpPr>
          <p:spPr>
            <a:xfrm>
              <a:off x="2654422" y="1487024"/>
              <a:ext cx="5939999" cy="1753474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</p:grpSp>
      <p:sp>
        <p:nvSpPr>
          <p:cNvPr id="121" name="CuadroTexto 10"/>
          <p:cNvSpPr txBox="1"/>
          <p:nvPr/>
        </p:nvSpPr>
        <p:spPr>
          <a:xfrm>
            <a:off x="209038" y="1473959"/>
            <a:ext cx="1129187" cy="248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</a:t>
            </a:r>
            <a:r>
              <a:rPr lang="es-MX" sz="338" dirty="0" err="1" smtClean="0">
                <a:solidFill>
                  <a:srgbClr val="001F31"/>
                </a:solidFill>
                <a:latin typeface="Graphik Medium" panose="020B0603030202060203" pitchFamily="34" charset="0"/>
              </a:rPr>
              <a:t>IcNSTITUCIONAL</a:t>
            </a:r>
            <a:r>
              <a:rPr lang="es-MX" sz="338" dirty="0" smtClean="0">
                <a:solidFill>
                  <a:srgbClr val="001F31"/>
                </a:solidFill>
                <a:latin typeface="Graphik Medium" panose="020B0603030202060203" pitchFamily="34" charset="0"/>
              </a:rPr>
              <a:t> </a:t>
            </a:r>
            <a:endParaRPr lang="es-MX" sz="338" dirty="0">
              <a:solidFill>
                <a:srgbClr val="001F31"/>
              </a:solidFill>
              <a:latin typeface="Graphik Medium" panose="020B0603030202060203" pitchFamily="34" charset="0"/>
            </a:endParaRP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sp>
        <p:nvSpPr>
          <p:cNvPr id="124" name="CuadroTexto 10"/>
          <p:cNvSpPr txBox="1"/>
          <p:nvPr/>
        </p:nvSpPr>
        <p:spPr>
          <a:xfrm>
            <a:off x="214444" y="2071897"/>
            <a:ext cx="1129187" cy="248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</a:t>
            </a:r>
            <a:r>
              <a:rPr lang="es-MX" sz="338" dirty="0" err="1" smtClean="0">
                <a:solidFill>
                  <a:srgbClr val="001F31"/>
                </a:solidFill>
                <a:latin typeface="Graphik Medium" panose="020B0603030202060203" pitchFamily="34" charset="0"/>
              </a:rPr>
              <a:t>IcNSTITUCIONAL</a:t>
            </a:r>
            <a:r>
              <a:rPr lang="es-MX" sz="338" dirty="0" smtClean="0">
                <a:solidFill>
                  <a:srgbClr val="001F31"/>
                </a:solidFill>
                <a:latin typeface="Graphik Medium" panose="020B0603030202060203" pitchFamily="34" charset="0"/>
              </a:rPr>
              <a:t> </a:t>
            </a:r>
            <a:endParaRPr lang="es-MX" sz="338" dirty="0">
              <a:solidFill>
                <a:srgbClr val="001F31"/>
              </a:solidFill>
              <a:latin typeface="Graphik Medium" panose="020B0603030202060203" pitchFamily="34" charset="0"/>
            </a:endParaRP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sp>
        <p:nvSpPr>
          <p:cNvPr id="125" name="CuadroTexto 10"/>
          <p:cNvSpPr txBox="1"/>
          <p:nvPr/>
        </p:nvSpPr>
        <p:spPr>
          <a:xfrm>
            <a:off x="213260" y="2586209"/>
            <a:ext cx="1129187" cy="248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</a:t>
            </a:r>
            <a:r>
              <a:rPr lang="es-MX" sz="338" dirty="0" err="1" smtClean="0">
                <a:solidFill>
                  <a:srgbClr val="001F31"/>
                </a:solidFill>
                <a:latin typeface="Graphik Medium" panose="020B0603030202060203" pitchFamily="34" charset="0"/>
              </a:rPr>
              <a:t>IcNSTITUCIONAL</a:t>
            </a:r>
            <a:r>
              <a:rPr lang="es-MX" sz="338" dirty="0" smtClean="0">
                <a:solidFill>
                  <a:srgbClr val="001F31"/>
                </a:solidFill>
                <a:latin typeface="Graphik Medium" panose="020B0603030202060203" pitchFamily="34" charset="0"/>
              </a:rPr>
              <a:t> </a:t>
            </a:r>
            <a:endParaRPr lang="es-MX" sz="338" dirty="0">
              <a:solidFill>
                <a:srgbClr val="001F31"/>
              </a:solidFill>
              <a:latin typeface="Graphik Medium" panose="020B0603030202060203" pitchFamily="34" charset="0"/>
            </a:endParaRP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sp>
        <p:nvSpPr>
          <p:cNvPr id="126" name="CuadroTexto 10"/>
          <p:cNvSpPr txBox="1"/>
          <p:nvPr/>
        </p:nvSpPr>
        <p:spPr>
          <a:xfrm>
            <a:off x="247897" y="786470"/>
            <a:ext cx="1129187" cy="248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</a:t>
            </a:r>
            <a:r>
              <a:rPr lang="es-MX" sz="338" dirty="0" err="1" smtClean="0">
                <a:solidFill>
                  <a:srgbClr val="001F31"/>
                </a:solidFill>
                <a:latin typeface="Graphik Medium" panose="020B0603030202060203" pitchFamily="34" charset="0"/>
              </a:rPr>
              <a:t>IcNSTITUCIONAL</a:t>
            </a:r>
            <a:r>
              <a:rPr lang="es-MX" sz="338" dirty="0" smtClean="0">
                <a:solidFill>
                  <a:srgbClr val="001F31"/>
                </a:solidFill>
                <a:latin typeface="Graphik Medium" panose="020B0603030202060203" pitchFamily="34" charset="0"/>
              </a:rPr>
              <a:t> </a:t>
            </a:r>
            <a:endParaRPr lang="es-MX" sz="338" dirty="0">
              <a:solidFill>
                <a:srgbClr val="001F31"/>
              </a:solidFill>
              <a:latin typeface="Graphik Medium" panose="020B0603030202060203" pitchFamily="34" charset="0"/>
            </a:endParaRP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pic>
        <p:nvPicPr>
          <p:cNvPr id="127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16" y="1518466"/>
            <a:ext cx="151992" cy="173686"/>
          </a:xfrm>
          <a:prstGeom prst="rect">
            <a:avLst/>
          </a:prstGeom>
        </p:spPr>
      </p:pic>
      <p:grpSp>
        <p:nvGrpSpPr>
          <p:cNvPr id="128" name="Grupo 3"/>
          <p:cNvGrpSpPr/>
          <p:nvPr/>
        </p:nvGrpSpPr>
        <p:grpSpPr>
          <a:xfrm>
            <a:off x="76198" y="4198536"/>
            <a:ext cx="4499147" cy="584923"/>
            <a:chOff x="2654422" y="1457810"/>
            <a:chExt cx="6251648" cy="1782688"/>
          </a:xfrm>
        </p:grpSpPr>
        <p:sp>
          <p:nvSpPr>
            <p:cNvPr id="129" name="CuadroTexto 5"/>
            <p:cNvSpPr txBox="1"/>
            <p:nvPr/>
          </p:nvSpPr>
          <p:spPr>
            <a:xfrm>
              <a:off x="3635735" y="1457810"/>
              <a:ext cx="5270335" cy="11476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AEEH-2*1S.4.2/01-2020</a:t>
              </a:r>
            </a:p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Censo Nacional de Gobierno, Seguridad Pública y Sistemas</a:t>
              </a:r>
              <a:endParaRPr lang="es-MX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Penitenciarios Estatales 2020</a:t>
              </a:r>
            </a:p>
            <a:p>
              <a:pPr algn="ctr"/>
              <a:r>
                <a:rPr lang="es-MX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Secretaría del Medio Ambiente y Recursos Naturales</a:t>
              </a:r>
            </a:p>
          </p:txBody>
        </p:sp>
        <p:sp>
          <p:nvSpPr>
            <p:cNvPr id="130" name="Rectángulo 7"/>
            <p:cNvSpPr/>
            <p:nvPr/>
          </p:nvSpPr>
          <p:spPr>
            <a:xfrm>
              <a:off x="2654422" y="1487024"/>
              <a:ext cx="5939999" cy="1753474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</p:grpSp>
      <p:sp>
        <p:nvSpPr>
          <p:cNvPr id="35" name="CuadroTexto 10"/>
          <p:cNvSpPr txBox="1"/>
          <p:nvPr/>
        </p:nvSpPr>
        <p:spPr>
          <a:xfrm>
            <a:off x="207515" y="4217154"/>
            <a:ext cx="1129187" cy="248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</a:t>
            </a:r>
            <a:r>
              <a:rPr lang="es-MX" sz="338" dirty="0" err="1" smtClean="0">
                <a:solidFill>
                  <a:srgbClr val="001F31"/>
                </a:solidFill>
                <a:latin typeface="Graphik Medium" panose="020B0603030202060203" pitchFamily="34" charset="0"/>
              </a:rPr>
              <a:t>IcNSTITUCIONAL</a:t>
            </a:r>
            <a:r>
              <a:rPr lang="es-MX" sz="338" dirty="0" smtClean="0">
                <a:solidFill>
                  <a:srgbClr val="001F31"/>
                </a:solidFill>
                <a:latin typeface="Graphik Medium" panose="020B0603030202060203" pitchFamily="34" charset="0"/>
              </a:rPr>
              <a:t> </a:t>
            </a:r>
            <a:endParaRPr lang="es-MX" sz="338" dirty="0">
              <a:solidFill>
                <a:srgbClr val="001F31"/>
              </a:solidFill>
              <a:latin typeface="Graphik Medium" panose="020B0603030202060203" pitchFamily="34" charset="0"/>
            </a:endParaRP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pic>
        <p:nvPicPr>
          <p:cNvPr id="36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85" y="4262842"/>
            <a:ext cx="152400" cy="17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2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upo 3"/>
          <p:cNvGrpSpPr/>
          <p:nvPr/>
        </p:nvGrpSpPr>
        <p:grpSpPr>
          <a:xfrm>
            <a:off x="76197" y="1574658"/>
            <a:ext cx="4765965" cy="638179"/>
            <a:chOff x="2654422" y="1487024"/>
            <a:chExt cx="6767257" cy="1760636"/>
          </a:xfrm>
        </p:grpSpPr>
        <p:sp>
          <p:nvSpPr>
            <p:cNvPr id="52" name="CuadroTexto 4"/>
            <p:cNvSpPr txBox="1"/>
            <p:nvPr/>
          </p:nvSpPr>
          <p:spPr>
            <a:xfrm>
              <a:off x="4513631" y="1558155"/>
              <a:ext cx="3933157" cy="636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AEEH-2*1S.1.3/01 I-2018</a:t>
              </a:r>
            </a:p>
          </p:txBody>
        </p:sp>
        <p:sp>
          <p:nvSpPr>
            <p:cNvPr id="53" name="CuadroTexto 5"/>
            <p:cNvSpPr txBox="1"/>
            <p:nvPr/>
          </p:nvSpPr>
          <p:spPr>
            <a:xfrm>
              <a:off x="3544591" y="1846634"/>
              <a:ext cx="5877088" cy="1401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Electricidad</a:t>
              </a:r>
            </a:p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Asesorías en materia energética del 17 de enero</a:t>
              </a:r>
            </a:p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 al 25 de septiembre del 2018</a:t>
              </a:r>
              <a:endParaRPr lang="es-MX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</p:txBody>
        </p:sp>
        <p:sp>
          <p:nvSpPr>
            <p:cNvPr id="54" name="Rectángulo 7"/>
            <p:cNvSpPr/>
            <p:nvPr/>
          </p:nvSpPr>
          <p:spPr>
            <a:xfrm>
              <a:off x="2654422" y="1487024"/>
              <a:ext cx="5939999" cy="1753474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</p:grpSp>
      <p:pic>
        <p:nvPicPr>
          <p:cNvPr id="55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09" y="911561"/>
            <a:ext cx="152400" cy="174153"/>
          </a:xfrm>
          <a:prstGeom prst="rect">
            <a:avLst/>
          </a:prstGeom>
        </p:spPr>
      </p:pic>
      <p:sp>
        <p:nvSpPr>
          <p:cNvPr id="58" name="CuadroTexto 10"/>
          <p:cNvSpPr txBox="1"/>
          <p:nvPr/>
        </p:nvSpPr>
        <p:spPr>
          <a:xfrm>
            <a:off x="247897" y="161999"/>
            <a:ext cx="1129187" cy="248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</a:t>
            </a:r>
            <a:r>
              <a:rPr lang="es-MX" sz="338" dirty="0" err="1" smtClean="0">
                <a:solidFill>
                  <a:srgbClr val="001F31"/>
                </a:solidFill>
                <a:latin typeface="Graphik Medium" panose="020B0603030202060203" pitchFamily="34" charset="0"/>
              </a:rPr>
              <a:t>IcNSTITUCIONAL</a:t>
            </a:r>
            <a:r>
              <a:rPr lang="es-MX" sz="338" dirty="0" smtClean="0">
                <a:solidFill>
                  <a:srgbClr val="001F31"/>
                </a:solidFill>
                <a:latin typeface="Graphik Medium" panose="020B0603030202060203" pitchFamily="34" charset="0"/>
              </a:rPr>
              <a:t> </a:t>
            </a:r>
            <a:endParaRPr lang="es-MX" sz="338" dirty="0">
              <a:solidFill>
                <a:srgbClr val="001F31"/>
              </a:solidFill>
              <a:latin typeface="Graphik Medium" panose="020B0603030202060203" pitchFamily="34" charset="0"/>
            </a:endParaRP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grpSp>
        <p:nvGrpSpPr>
          <p:cNvPr id="59" name="Grupo 3"/>
          <p:cNvGrpSpPr/>
          <p:nvPr/>
        </p:nvGrpSpPr>
        <p:grpSpPr>
          <a:xfrm>
            <a:off x="103906" y="2352957"/>
            <a:ext cx="4738256" cy="619435"/>
            <a:chOff x="2654422" y="1487024"/>
            <a:chExt cx="6734022" cy="1793651"/>
          </a:xfrm>
        </p:grpSpPr>
        <p:sp>
          <p:nvSpPr>
            <p:cNvPr id="63" name="CuadroTexto 5"/>
            <p:cNvSpPr txBox="1"/>
            <p:nvPr/>
          </p:nvSpPr>
          <p:spPr>
            <a:xfrm>
              <a:off x="3511355" y="1795603"/>
              <a:ext cx="5877089" cy="1485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Electricidad</a:t>
              </a:r>
            </a:p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Asesorías en materia energética del 15 de octubre</a:t>
              </a:r>
            </a:p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 al 25 de septiembre del 201r8</a:t>
              </a:r>
              <a:endParaRPr lang="es-MX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</p:txBody>
        </p:sp>
        <p:sp>
          <p:nvSpPr>
            <p:cNvPr id="66" name="Rectángulo 7"/>
            <p:cNvSpPr/>
            <p:nvPr/>
          </p:nvSpPr>
          <p:spPr>
            <a:xfrm>
              <a:off x="2654422" y="1487024"/>
              <a:ext cx="5939999" cy="1753474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</p:grpSp>
      <p:sp>
        <p:nvSpPr>
          <p:cNvPr id="76" name="CuadroTexto 4"/>
          <p:cNvSpPr txBox="1"/>
          <p:nvPr/>
        </p:nvSpPr>
        <p:spPr>
          <a:xfrm>
            <a:off x="1360383" y="2355663"/>
            <a:ext cx="26580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rPr>
              <a:t>AEEH-2*1S.1.3/01 II-2018</a:t>
            </a:r>
          </a:p>
        </p:txBody>
      </p:sp>
      <p:sp>
        <p:nvSpPr>
          <p:cNvPr id="82" name="CuadroTexto 4"/>
          <p:cNvSpPr txBox="1"/>
          <p:nvPr/>
        </p:nvSpPr>
        <p:spPr>
          <a:xfrm>
            <a:off x="1374235" y="3928151"/>
            <a:ext cx="26580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rPr>
              <a:t>AEEH-2*1S.1.3/01 II-2019</a:t>
            </a:r>
          </a:p>
        </p:txBody>
      </p:sp>
      <p:sp>
        <p:nvSpPr>
          <p:cNvPr id="86" name="CuadroTexto 10"/>
          <p:cNvSpPr txBox="1"/>
          <p:nvPr/>
        </p:nvSpPr>
        <p:spPr>
          <a:xfrm>
            <a:off x="254823" y="2434141"/>
            <a:ext cx="1129187" cy="248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</a:t>
            </a:r>
            <a:r>
              <a:rPr lang="es-MX" sz="338" dirty="0" err="1" smtClean="0">
                <a:solidFill>
                  <a:srgbClr val="001F31"/>
                </a:solidFill>
                <a:latin typeface="Graphik Medium" panose="020B0603030202060203" pitchFamily="34" charset="0"/>
              </a:rPr>
              <a:t>IcNSTITUCIONAL</a:t>
            </a:r>
            <a:r>
              <a:rPr lang="es-MX" sz="338" dirty="0" smtClean="0">
                <a:solidFill>
                  <a:srgbClr val="001F31"/>
                </a:solidFill>
                <a:latin typeface="Graphik Medium" panose="020B0603030202060203" pitchFamily="34" charset="0"/>
              </a:rPr>
              <a:t> </a:t>
            </a:r>
            <a:endParaRPr lang="es-MX" sz="338" dirty="0">
              <a:solidFill>
                <a:srgbClr val="001F31"/>
              </a:solidFill>
              <a:latin typeface="Graphik Medium" panose="020B0603030202060203" pitchFamily="34" charset="0"/>
            </a:endParaRP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sp>
        <p:nvSpPr>
          <p:cNvPr id="89" name="CuadroTexto 10"/>
          <p:cNvSpPr txBox="1"/>
          <p:nvPr/>
        </p:nvSpPr>
        <p:spPr>
          <a:xfrm>
            <a:off x="220185" y="3189216"/>
            <a:ext cx="1129187" cy="248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</a:t>
            </a:r>
            <a:r>
              <a:rPr lang="es-MX" sz="338" dirty="0" err="1" smtClean="0">
                <a:solidFill>
                  <a:srgbClr val="001F31"/>
                </a:solidFill>
                <a:latin typeface="Graphik Medium" panose="020B0603030202060203" pitchFamily="34" charset="0"/>
              </a:rPr>
              <a:t>IcNSTITUCIONAL</a:t>
            </a:r>
            <a:r>
              <a:rPr lang="es-MX" sz="338" dirty="0" smtClean="0">
                <a:solidFill>
                  <a:srgbClr val="001F31"/>
                </a:solidFill>
                <a:latin typeface="Graphik Medium" panose="020B0603030202060203" pitchFamily="34" charset="0"/>
              </a:rPr>
              <a:t> </a:t>
            </a:r>
            <a:endParaRPr lang="es-MX" sz="338" dirty="0">
              <a:solidFill>
                <a:srgbClr val="001F31"/>
              </a:solidFill>
              <a:latin typeface="Graphik Medium" panose="020B0603030202060203" pitchFamily="34" charset="0"/>
            </a:endParaRP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sp>
        <p:nvSpPr>
          <p:cNvPr id="90" name="CuadroTexto 10"/>
          <p:cNvSpPr txBox="1"/>
          <p:nvPr/>
        </p:nvSpPr>
        <p:spPr>
          <a:xfrm>
            <a:off x="206333" y="3965069"/>
            <a:ext cx="1129187" cy="248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</a:t>
            </a:r>
            <a:r>
              <a:rPr lang="es-MX" sz="338" dirty="0" err="1" smtClean="0">
                <a:solidFill>
                  <a:srgbClr val="001F31"/>
                </a:solidFill>
                <a:latin typeface="Graphik Medium" panose="020B0603030202060203" pitchFamily="34" charset="0"/>
              </a:rPr>
              <a:t>IcNSTITUCIONAL</a:t>
            </a:r>
            <a:r>
              <a:rPr lang="es-MX" sz="338" dirty="0" smtClean="0">
                <a:solidFill>
                  <a:srgbClr val="001F31"/>
                </a:solidFill>
                <a:latin typeface="Graphik Medium" panose="020B0603030202060203" pitchFamily="34" charset="0"/>
              </a:rPr>
              <a:t> </a:t>
            </a:r>
            <a:endParaRPr lang="es-MX" sz="338" dirty="0">
              <a:solidFill>
                <a:srgbClr val="001F31"/>
              </a:solidFill>
              <a:latin typeface="Graphik Medium" panose="020B0603030202060203" pitchFamily="34" charset="0"/>
            </a:endParaRP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pic>
        <p:nvPicPr>
          <p:cNvPr id="93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43" y="4008051"/>
            <a:ext cx="152400" cy="174153"/>
          </a:xfrm>
          <a:prstGeom prst="rect">
            <a:avLst/>
          </a:prstGeom>
        </p:spPr>
      </p:pic>
      <p:sp>
        <p:nvSpPr>
          <p:cNvPr id="62" name="Rectángulo 7"/>
          <p:cNvSpPr/>
          <p:nvPr/>
        </p:nvSpPr>
        <p:spPr>
          <a:xfrm>
            <a:off x="90050" y="3147153"/>
            <a:ext cx="4038436" cy="599613"/>
          </a:xfrm>
          <a:prstGeom prst="rect">
            <a:avLst/>
          </a:prstGeom>
          <a:noFill/>
          <a:ln w="57150">
            <a:solidFill>
              <a:srgbClr val="001F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MX" sz="760" dirty="0"/>
          </a:p>
        </p:txBody>
      </p:sp>
      <p:sp>
        <p:nvSpPr>
          <p:cNvPr id="64" name="CuadroTexto 5"/>
          <p:cNvSpPr txBox="1"/>
          <p:nvPr/>
        </p:nvSpPr>
        <p:spPr>
          <a:xfrm>
            <a:off x="742301" y="3407388"/>
            <a:ext cx="3995665" cy="360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rPr>
              <a:t>Asesorías en materia energética del 19 de enero</a:t>
            </a:r>
          </a:p>
          <a:p>
            <a:pPr algn="ctr"/>
            <a:r>
              <a:rPr lang="es-MX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rPr>
              <a:t>al 31 de mayo del 2019</a:t>
            </a:r>
            <a:endParaRPr lang="es-MX" sz="900" dirty="0">
              <a:solidFill>
                <a:schemeClr val="tx1">
                  <a:lumMod val="75000"/>
                  <a:lumOff val="25000"/>
                </a:schemeClr>
              </a:solidFill>
              <a:latin typeface="Graphik Regular" panose="020B0503030202060203" pitchFamily="34" charset="0"/>
            </a:endParaRPr>
          </a:p>
        </p:txBody>
      </p:sp>
      <p:sp>
        <p:nvSpPr>
          <p:cNvPr id="65" name="CuadroTexto 4"/>
          <p:cNvSpPr txBox="1"/>
          <p:nvPr/>
        </p:nvSpPr>
        <p:spPr>
          <a:xfrm>
            <a:off x="1436581" y="3138443"/>
            <a:ext cx="2658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rPr>
              <a:t>AEEH-2*1S.1.3/01 I-2019</a:t>
            </a:r>
          </a:p>
          <a:p>
            <a:pPr algn="ctr"/>
            <a:r>
              <a:rPr lang="es-MX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rPr>
              <a:t>Electricidad</a:t>
            </a:r>
            <a:endParaRPr lang="es-MX" sz="900" dirty="0">
              <a:solidFill>
                <a:schemeClr val="tx1">
                  <a:lumMod val="75000"/>
                  <a:lumOff val="25000"/>
                </a:schemeClr>
              </a:solidFill>
              <a:latin typeface="Graphik Medium" panose="020B0603030202060203" pitchFamily="34" charset="0"/>
            </a:endParaRPr>
          </a:p>
        </p:txBody>
      </p:sp>
      <p:pic>
        <p:nvPicPr>
          <p:cNvPr id="68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51" y="3246057"/>
            <a:ext cx="152400" cy="174153"/>
          </a:xfrm>
          <a:prstGeom prst="rect">
            <a:avLst/>
          </a:prstGeom>
        </p:spPr>
      </p:pic>
      <p:sp>
        <p:nvSpPr>
          <p:cNvPr id="69" name="Rectángulo 7"/>
          <p:cNvSpPr/>
          <p:nvPr/>
        </p:nvSpPr>
        <p:spPr>
          <a:xfrm>
            <a:off x="55412" y="3923006"/>
            <a:ext cx="4038436" cy="599613"/>
          </a:xfrm>
          <a:prstGeom prst="rect">
            <a:avLst/>
          </a:prstGeom>
          <a:noFill/>
          <a:ln w="57150">
            <a:solidFill>
              <a:srgbClr val="001F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MX" sz="760" dirty="0"/>
          </a:p>
        </p:txBody>
      </p:sp>
      <p:sp>
        <p:nvSpPr>
          <p:cNvPr id="77" name="CuadroTexto 5"/>
          <p:cNvSpPr txBox="1"/>
          <p:nvPr/>
        </p:nvSpPr>
        <p:spPr>
          <a:xfrm>
            <a:off x="745374" y="4034084"/>
            <a:ext cx="397181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rPr>
              <a:t>Electricidad</a:t>
            </a:r>
          </a:p>
          <a:p>
            <a:pPr algn="ctr"/>
            <a:r>
              <a:rPr lang="es-MX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rPr>
              <a:t>Asesorías en materia energética del 12 de junio</a:t>
            </a:r>
          </a:p>
          <a:p>
            <a:pPr algn="ctr"/>
            <a:r>
              <a:rPr lang="es-MX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rPr>
              <a:t> al 21 de noviembre del 2019</a:t>
            </a:r>
            <a:endParaRPr lang="es-MX" sz="900" dirty="0">
              <a:solidFill>
                <a:schemeClr val="tx1">
                  <a:lumMod val="75000"/>
                  <a:lumOff val="25000"/>
                </a:schemeClr>
              </a:solidFill>
              <a:latin typeface="Graphik Regular" panose="020B0503030202060203" pitchFamily="34" charset="0"/>
            </a:endParaRPr>
          </a:p>
        </p:txBody>
      </p:sp>
      <p:grpSp>
        <p:nvGrpSpPr>
          <p:cNvPr id="79" name="Grupo 3"/>
          <p:cNvGrpSpPr/>
          <p:nvPr/>
        </p:nvGrpSpPr>
        <p:grpSpPr>
          <a:xfrm>
            <a:off x="117762" y="5086783"/>
            <a:ext cx="4203227" cy="485847"/>
            <a:chOff x="2654422" y="1487024"/>
            <a:chExt cx="6219520" cy="1753474"/>
          </a:xfrm>
        </p:grpSpPr>
        <p:sp>
          <p:nvSpPr>
            <p:cNvPr id="80" name="CuadroTexto 4"/>
            <p:cNvSpPr txBox="1"/>
            <p:nvPr/>
          </p:nvSpPr>
          <p:spPr>
            <a:xfrm>
              <a:off x="4267623" y="1551267"/>
              <a:ext cx="3933160" cy="735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AEEH-2*1S.1.3/02-2019</a:t>
              </a:r>
              <a:endParaRPr lang="es-MX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endParaRPr>
            </a:p>
          </p:txBody>
        </p:sp>
        <p:sp>
          <p:nvSpPr>
            <p:cNvPr id="81" name="CuadroTexto 5"/>
            <p:cNvSpPr txBox="1"/>
            <p:nvPr/>
          </p:nvSpPr>
          <p:spPr>
            <a:xfrm>
              <a:off x="3603604" y="1912534"/>
              <a:ext cx="5270338" cy="1176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Capacitación en Materia Energética</a:t>
              </a:r>
            </a:p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Asistencia a coloquios, foros, etc.</a:t>
              </a:r>
              <a:endParaRPr lang="es-MX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</p:txBody>
        </p:sp>
        <p:sp>
          <p:nvSpPr>
            <p:cNvPr id="83" name="Rectángulo 7"/>
            <p:cNvSpPr/>
            <p:nvPr/>
          </p:nvSpPr>
          <p:spPr>
            <a:xfrm>
              <a:off x="2654422" y="1487024"/>
              <a:ext cx="5939999" cy="1753474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</p:grpSp>
      <p:sp>
        <p:nvSpPr>
          <p:cNvPr id="84" name="CuadroTexto 10"/>
          <p:cNvSpPr txBox="1"/>
          <p:nvPr/>
        </p:nvSpPr>
        <p:spPr>
          <a:xfrm>
            <a:off x="254823" y="5123107"/>
            <a:ext cx="1129187" cy="248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</a:t>
            </a:r>
            <a:r>
              <a:rPr lang="es-MX" sz="338" dirty="0" err="1" smtClean="0">
                <a:solidFill>
                  <a:srgbClr val="001F31"/>
                </a:solidFill>
                <a:latin typeface="Graphik Medium" panose="020B0603030202060203" pitchFamily="34" charset="0"/>
              </a:rPr>
              <a:t>IcNSTITUCIONAL</a:t>
            </a:r>
            <a:r>
              <a:rPr lang="es-MX" sz="338" dirty="0" smtClean="0">
                <a:solidFill>
                  <a:srgbClr val="001F31"/>
                </a:solidFill>
                <a:latin typeface="Graphik Medium" panose="020B0603030202060203" pitchFamily="34" charset="0"/>
              </a:rPr>
              <a:t> </a:t>
            </a:r>
            <a:endParaRPr lang="es-MX" sz="338" dirty="0">
              <a:solidFill>
                <a:srgbClr val="001F31"/>
              </a:solidFill>
              <a:latin typeface="Graphik Medium" panose="020B0603030202060203" pitchFamily="34" charset="0"/>
            </a:endParaRP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pic>
        <p:nvPicPr>
          <p:cNvPr id="85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89313" y="5168932"/>
            <a:ext cx="140175" cy="160181"/>
          </a:xfrm>
          <a:prstGeom prst="rect">
            <a:avLst/>
          </a:prstGeom>
        </p:spPr>
      </p:pic>
      <p:grpSp>
        <p:nvGrpSpPr>
          <p:cNvPr id="87" name="Grupo 3"/>
          <p:cNvGrpSpPr/>
          <p:nvPr/>
        </p:nvGrpSpPr>
        <p:grpSpPr>
          <a:xfrm>
            <a:off x="124688" y="5667260"/>
            <a:ext cx="4203227" cy="563856"/>
            <a:chOff x="2654422" y="1487024"/>
            <a:chExt cx="6219520" cy="1840897"/>
          </a:xfrm>
        </p:grpSpPr>
        <p:sp>
          <p:nvSpPr>
            <p:cNvPr id="88" name="CuadroTexto 4"/>
            <p:cNvSpPr txBox="1"/>
            <p:nvPr/>
          </p:nvSpPr>
          <p:spPr>
            <a:xfrm>
              <a:off x="4267623" y="1617450"/>
              <a:ext cx="3933160" cy="735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AEEH-2*1S.1.3/01-2020</a:t>
              </a:r>
              <a:endParaRPr lang="es-MX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endParaRPr>
            </a:p>
          </p:txBody>
        </p:sp>
        <p:sp>
          <p:nvSpPr>
            <p:cNvPr id="94" name="CuadroTexto 5"/>
            <p:cNvSpPr txBox="1"/>
            <p:nvPr/>
          </p:nvSpPr>
          <p:spPr>
            <a:xfrm>
              <a:off x="3603604" y="2053721"/>
              <a:ext cx="5270338" cy="1274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Solicitudes en Materia Energética</a:t>
              </a:r>
            </a:p>
            <a:p>
              <a:pPr algn="ctr"/>
              <a:r>
                <a:rPr lang="es-MX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(Asesorías) </a:t>
              </a:r>
              <a:endParaRPr lang="es-MX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</p:txBody>
        </p:sp>
        <p:sp>
          <p:nvSpPr>
            <p:cNvPr id="95" name="Rectángulo 7"/>
            <p:cNvSpPr/>
            <p:nvPr/>
          </p:nvSpPr>
          <p:spPr>
            <a:xfrm>
              <a:off x="2654422" y="1487024"/>
              <a:ext cx="5939999" cy="1753474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</p:grpSp>
      <p:sp>
        <p:nvSpPr>
          <p:cNvPr id="96" name="CuadroTexto 10"/>
          <p:cNvSpPr txBox="1"/>
          <p:nvPr/>
        </p:nvSpPr>
        <p:spPr>
          <a:xfrm>
            <a:off x="239447" y="5702292"/>
            <a:ext cx="1129187" cy="248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</a:t>
            </a:r>
            <a:r>
              <a:rPr lang="es-MX" sz="338" dirty="0" err="1" smtClean="0">
                <a:solidFill>
                  <a:srgbClr val="001F31"/>
                </a:solidFill>
                <a:latin typeface="Graphik Medium" panose="020B0603030202060203" pitchFamily="34" charset="0"/>
              </a:rPr>
              <a:t>IcNSTITUCIONAL</a:t>
            </a:r>
            <a:r>
              <a:rPr lang="es-MX" sz="338" dirty="0" smtClean="0">
                <a:solidFill>
                  <a:srgbClr val="001F31"/>
                </a:solidFill>
                <a:latin typeface="Graphik Medium" panose="020B0603030202060203" pitchFamily="34" charset="0"/>
              </a:rPr>
              <a:t> </a:t>
            </a:r>
            <a:endParaRPr lang="es-MX" sz="338" dirty="0">
              <a:solidFill>
                <a:srgbClr val="001F31"/>
              </a:solidFill>
              <a:latin typeface="Graphik Medium" panose="020B0603030202060203" pitchFamily="34" charset="0"/>
            </a:endParaRP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pic>
        <p:nvPicPr>
          <p:cNvPr id="97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73937" y="5748122"/>
            <a:ext cx="140175" cy="160181"/>
          </a:xfrm>
          <a:prstGeom prst="rect">
            <a:avLst/>
          </a:prstGeom>
        </p:spPr>
      </p:pic>
      <p:grpSp>
        <p:nvGrpSpPr>
          <p:cNvPr id="98" name="Grupo 3"/>
          <p:cNvGrpSpPr/>
          <p:nvPr/>
        </p:nvGrpSpPr>
        <p:grpSpPr>
          <a:xfrm>
            <a:off x="110834" y="6326768"/>
            <a:ext cx="4327353" cy="399309"/>
            <a:chOff x="2654422" y="1487024"/>
            <a:chExt cx="6331375" cy="1753474"/>
          </a:xfrm>
        </p:grpSpPr>
        <p:sp>
          <p:nvSpPr>
            <p:cNvPr id="99" name="CuadroTexto 4"/>
            <p:cNvSpPr txBox="1"/>
            <p:nvPr/>
          </p:nvSpPr>
          <p:spPr>
            <a:xfrm>
              <a:off x="4385053" y="1683633"/>
              <a:ext cx="3933160" cy="7351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AEEH-2*1S.2.2/01-2019</a:t>
              </a:r>
              <a:endParaRPr lang="es-MX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endParaRPr>
            </a:p>
          </p:txBody>
        </p:sp>
        <p:sp>
          <p:nvSpPr>
            <p:cNvPr id="100" name="CuadroTexto 5"/>
            <p:cNvSpPr txBox="1"/>
            <p:nvPr/>
          </p:nvSpPr>
          <p:spPr>
            <a:xfrm>
              <a:off x="3715460" y="2186088"/>
              <a:ext cx="5270337" cy="7841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Nuevas inversiones  en capacidad técnica instalada</a:t>
              </a:r>
            </a:p>
          </p:txBody>
        </p:sp>
        <p:sp>
          <p:nvSpPr>
            <p:cNvPr id="101" name="Rectángulo 7"/>
            <p:cNvSpPr/>
            <p:nvPr/>
          </p:nvSpPr>
          <p:spPr>
            <a:xfrm>
              <a:off x="2654422" y="1487024"/>
              <a:ext cx="5939999" cy="1753474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</p:grpSp>
      <p:grpSp>
        <p:nvGrpSpPr>
          <p:cNvPr id="102" name="Grupo 3"/>
          <p:cNvGrpSpPr/>
          <p:nvPr/>
        </p:nvGrpSpPr>
        <p:grpSpPr>
          <a:xfrm>
            <a:off x="110832" y="6846314"/>
            <a:ext cx="4203227" cy="508202"/>
            <a:chOff x="2654422" y="1487024"/>
            <a:chExt cx="6219520" cy="1753474"/>
          </a:xfrm>
        </p:grpSpPr>
        <p:sp>
          <p:nvSpPr>
            <p:cNvPr id="104" name="CuadroTexto 5"/>
            <p:cNvSpPr txBox="1"/>
            <p:nvPr/>
          </p:nvSpPr>
          <p:spPr>
            <a:xfrm>
              <a:off x="3603604" y="1915833"/>
              <a:ext cx="5270338" cy="11761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Gestión ante organismos públicos y privados para </a:t>
              </a:r>
            </a:p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La capacitación de inversión energética</a:t>
              </a:r>
              <a:endParaRPr lang="es-MX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</p:txBody>
        </p:sp>
        <p:sp>
          <p:nvSpPr>
            <p:cNvPr id="105" name="Rectángulo 7"/>
            <p:cNvSpPr/>
            <p:nvPr/>
          </p:nvSpPr>
          <p:spPr>
            <a:xfrm>
              <a:off x="2654422" y="1487024"/>
              <a:ext cx="5939999" cy="1753474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</p:grpSp>
      <p:sp>
        <p:nvSpPr>
          <p:cNvPr id="106" name="CuadroTexto 10"/>
          <p:cNvSpPr txBox="1"/>
          <p:nvPr/>
        </p:nvSpPr>
        <p:spPr>
          <a:xfrm>
            <a:off x="214440" y="6354979"/>
            <a:ext cx="1129187" cy="248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</a:t>
            </a:r>
            <a:r>
              <a:rPr lang="es-MX" sz="338" dirty="0" err="1" smtClean="0">
                <a:solidFill>
                  <a:srgbClr val="001F31"/>
                </a:solidFill>
                <a:latin typeface="Graphik Medium" panose="020B0603030202060203" pitchFamily="34" charset="0"/>
              </a:rPr>
              <a:t>IcNSTITUCIONAL</a:t>
            </a:r>
            <a:r>
              <a:rPr lang="es-MX" sz="338" dirty="0" smtClean="0">
                <a:solidFill>
                  <a:srgbClr val="001F31"/>
                </a:solidFill>
                <a:latin typeface="Graphik Medium" panose="020B0603030202060203" pitchFamily="34" charset="0"/>
              </a:rPr>
              <a:t> </a:t>
            </a:r>
            <a:endParaRPr lang="es-MX" sz="338" dirty="0">
              <a:solidFill>
                <a:srgbClr val="001F31"/>
              </a:solidFill>
              <a:latin typeface="Graphik Medium" panose="020B0603030202060203" pitchFamily="34" charset="0"/>
            </a:endParaRP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sp>
        <p:nvSpPr>
          <p:cNvPr id="107" name="CuadroTexto 10"/>
          <p:cNvSpPr txBox="1"/>
          <p:nvPr/>
        </p:nvSpPr>
        <p:spPr>
          <a:xfrm>
            <a:off x="247893" y="7601888"/>
            <a:ext cx="1129187" cy="248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</a:t>
            </a:r>
            <a:r>
              <a:rPr lang="es-MX" sz="338" dirty="0" err="1" smtClean="0">
                <a:solidFill>
                  <a:srgbClr val="001F31"/>
                </a:solidFill>
                <a:latin typeface="Graphik Medium" panose="020B0603030202060203" pitchFamily="34" charset="0"/>
              </a:rPr>
              <a:t>IcNSTITUCIONAL</a:t>
            </a:r>
            <a:r>
              <a:rPr lang="es-MX" sz="338" dirty="0" smtClean="0">
                <a:solidFill>
                  <a:srgbClr val="001F31"/>
                </a:solidFill>
                <a:latin typeface="Graphik Medium" panose="020B0603030202060203" pitchFamily="34" charset="0"/>
              </a:rPr>
              <a:t> </a:t>
            </a:r>
            <a:endParaRPr lang="es-MX" sz="338" dirty="0">
              <a:solidFill>
                <a:srgbClr val="001F31"/>
              </a:solidFill>
              <a:latin typeface="Graphik Medium" panose="020B0603030202060203" pitchFamily="34" charset="0"/>
            </a:endParaRP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pic>
        <p:nvPicPr>
          <p:cNvPr id="108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53155" y="6393875"/>
            <a:ext cx="140175" cy="160181"/>
          </a:xfrm>
          <a:prstGeom prst="rect">
            <a:avLst/>
          </a:prstGeom>
        </p:spPr>
      </p:pic>
      <p:pic>
        <p:nvPicPr>
          <p:cNvPr id="109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75457" y="6913423"/>
            <a:ext cx="140175" cy="160181"/>
          </a:xfrm>
          <a:prstGeom prst="rect">
            <a:avLst/>
          </a:prstGeom>
        </p:spPr>
      </p:pic>
      <p:sp>
        <p:nvSpPr>
          <p:cNvPr id="110" name="CuadroTexto 4"/>
          <p:cNvSpPr txBox="1"/>
          <p:nvPr/>
        </p:nvSpPr>
        <p:spPr>
          <a:xfrm>
            <a:off x="1259736" y="6852633"/>
            <a:ext cx="2784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rPr>
              <a:t>AEEH-2*1S.2.2/02-2019</a:t>
            </a:r>
            <a:endParaRPr lang="es-MX" sz="900" dirty="0">
              <a:solidFill>
                <a:schemeClr val="tx1">
                  <a:lumMod val="75000"/>
                  <a:lumOff val="25000"/>
                </a:schemeClr>
              </a:solidFill>
              <a:latin typeface="Graphik Medium" panose="020B0603030202060203" pitchFamily="34" charset="0"/>
            </a:endParaRPr>
          </a:p>
        </p:txBody>
      </p:sp>
      <p:grpSp>
        <p:nvGrpSpPr>
          <p:cNvPr id="111" name="Grupo 3"/>
          <p:cNvGrpSpPr/>
          <p:nvPr/>
        </p:nvGrpSpPr>
        <p:grpSpPr>
          <a:xfrm>
            <a:off x="96976" y="7545361"/>
            <a:ext cx="4203227" cy="463127"/>
            <a:chOff x="2654422" y="1487024"/>
            <a:chExt cx="6219520" cy="1753474"/>
          </a:xfrm>
        </p:grpSpPr>
        <p:sp>
          <p:nvSpPr>
            <p:cNvPr id="112" name="CuadroTexto 5"/>
            <p:cNvSpPr txBox="1"/>
            <p:nvPr/>
          </p:nvSpPr>
          <p:spPr>
            <a:xfrm>
              <a:off x="3603604" y="1820940"/>
              <a:ext cx="5270338" cy="1176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Gestión para la adquisición de terrenos para</a:t>
              </a:r>
            </a:p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proyectos energéticos</a:t>
              </a:r>
              <a:endParaRPr lang="es-MX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</p:txBody>
        </p:sp>
        <p:sp>
          <p:nvSpPr>
            <p:cNvPr id="113" name="Rectángulo 7"/>
            <p:cNvSpPr/>
            <p:nvPr/>
          </p:nvSpPr>
          <p:spPr>
            <a:xfrm>
              <a:off x="2654422" y="1487024"/>
              <a:ext cx="5939999" cy="1753474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</p:grpSp>
      <p:sp>
        <p:nvSpPr>
          <p:cNvPr id="114" name="CuadroTexto 4"/>
          <p:cNvSpPr txBox="1"/>
          <p:nvPr/>
        </p:nvSpPr>
        <p:spPr>
          <a:xfrm>
            <a:off x="1162752" y="7566144"/>
            <a:ext cx="27842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rPr>
              <a:t>AEEH-2*1S.2.4/01-2018</a:t>
            </a:r>
            <a:endParaRPr lang="es-MX" sz="900" dirty="0">
              <a:solidFill>
                <a:schemeClr val="tx1">
                  <a:lumMod val="75000"/>
                  <a:lumOff val="25000"/>
                </a:schemeClr>
              </a:solidFill>
              <a:latin typeface="Graphik Medium" panose="020B0603030202060203" pitchFamily="34" charset="0"/>
            </a:endParaRPr>
          </a:p>
        </p:txBody>
      </p:sp>
      <p:sp>
        <p:nvSpPr>
          <p:cNvPr id="115" name="CuadroTexto 10"/>
          <p:cNvSpPr txBox="1"/>
          <p:nvPr/>
        </p:nvSpPr>
        <p:spPr>
          <a:xfrm>
            <a:off x="247893" y="6874522"/>
            <a:ext cx="1129187" cy="248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</a:t>
            </a:r>
            <a:r>
              <a:rPr lang="es-MX" sz="338" dirty="0" err="1" smtClean="0">
                <a:solidFill>
                  <a:srgbClr val="001F31"/>
                </a:solidFill>
                <a:latin typeface="Graphik Medium" panose="020B0603030202060203" pitchFamily="34" charset="0"/>
              </a:rPr>
              <a:t>IcNSTITUCIONAL</a:t>
            </a:r>
            <a:r>
              <a:rPr lang="es-MX" sz="338" dirty="0" smtClean="0">
                <a:solidFill>
                  <a:srgbClr val="001F31"/>
                </a:solidFill>
                <a:latin typeface="Graphik Medium" panose="020B0603030202060203" pitchFamily="34" charset="0"/>
              </a:rPr>
              <a:t> </a:t>
            </a:r>
            <a:endParaRPr lang="es-MX" sz="338" dirty="0">
              <a:solidFill>
                <a:srgbClr val="001F31"/>
              </a:solidFill>
              <a:latin typeface="Graphik Medium" panose="020B0603030202060203" pitchFamily="34" charset="0"/>
            </a:endParaRP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pic>
        <p:nvPicPr>
          <p:cNvPr id="116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75457" y="7640783"/>
            <a:ext cx="140175" cy="160181"/>
          </a:xfrm>
          <a:prstGeom prst="rect">
            <a:avLst/>
          </a:prstGeom>
        </p:spPr>
      </p:pic>
      <p:grpSp>
        <p:nvGrpSpPr>
          <p:cNvPr id="117" name="Grupo 3"/>
          <p:cNvGrpSpPr/>
          <p:nvPr/>
        </p:nvGrpSpPr>
        <p:grpSpPr>
          <a:xfrm>
            <a:off x="83123" y="812659"/>
            <a:ext cx="4183353" cy="554539"/>
            <a:chOff x="2654422" y="1487024"/>
            <a:chExt cx="5939999" cy="1753474"/>
          </a:xfrm>
        </p:grpSpPr>
        <p:sp>
          <p:nvSpPr>
            <p:cNvPr id="118" name="CuadroTexto 4"/>
            <p:cNvSpPr txBox="1"/>
            <p:nvPr/>
          </p:nvSpPr>
          <p:spPr>
            <a:xfrm>
              <a:off x="4130019" y="1623868"/>
              <a:ext cx="3933157" cy="636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AEEH-2*1S.1.2/01-2018</a:t>
              </a:r>
            </a:p>
          </p:txBody>
        </p:sp>
        <p:sp>
          <p:nvSpPr>
            <p:cNvPr id="120" name="Rectángulo 7"/>
            <p:cNvSpPr/>
            <p:nvPr/>
          </p:nvSpPr>
          <p:spPr>
            <a:xfrm>
              <a:off x="2654422" y="1487024"/>
              <a:ext cx="5939999" cy="1753474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</p:grpSp>
      <p:grpSp>
        <p:nvGrpSpPr>
          <p:cNvPr id="121" name="Grupo 3"/>
          <p:cNvGrpSpPr/>
          <p:nvPr/>
        </p:nvGrpSpPr>
        <p:grpSpPr>
          <a:xfrm>
            <a:off x="90049" y="71438"/>
            <a:ext cx="4183353" cy="493339"/>
            <a:chOff x="2654422" y="1487024"/>
            <a:chExt cx="5939999" cy="1753474"/>
          </a:xfrm>
        </p:grpSpPr>
        <p:sp>
          <p:nvSpPr>
            <p:cNvPr id="122" name="CuadroTexto 4"/>
            <p:cNvSpPr txBox="1"/>
            <p:nvPr/>
          </p:nvSpPr>
          <p:spPr>
            <a:xfrm>
              <a:off x="4513631" y="1615490"/>
              <a:ext cx="3933157" cy="5995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AEEH-2*1S.1.3/01 i-2018</a:t>
              </a:r>
            </a:p>
          </p:txBody>
        </p:sp>
        <p:sp>
          <p:nvSpPr>
            <p:cNvPr id="124" name="Rectángulo 7"/>
            <p:cNvSpPr/>
            <p:nvPr/>
          </p:nvSpPr>
          <p:spPr>
            <a:xfrm>
              <a:off x="2654422" y="1487024"/>
              <a:ext cx="5939999" cy="1753474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</p:grpSp>
      <p:sp>
        <p:nvSpPr>
          <p:cNvPr id="60" name="CuadroTexto 5"/>
          <p:cNvSpPr txBox="1"/>
          <p:nvPr/>
        </p:nvSpPr>
        <p:spPr>
          <a:xfrm>
            <a:off x="751605" y="257205"/>
            <a:ext cx="41390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rPr>
              <a:t>Energías Renovables y Eficiencia Energética</a:t>
            </a:r>
            <a:endParaRPr lang="es-MX" sz="900" dirty="0">
              <a:solidFill>
                <a:schemeClr val="tx1">
                  <a:lumMod val="75000"/>
                  <a:lumOff val="25000"/>
                </a:schemeClr>
              </a:solidFill>
              <a:latin typeface="Graphik Regular" panose="020B0503030202060203" pitchFamily="34" charset="0"/>
            </a:endParaRPr>
          </a:p>
        </p:txBody>
      </p:sp>
      <p:pic>
        <p:nvPicPr>
          <p:cNvPr id="61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35" y="211908"/>
            <a:ext cx="152400" cy="174153"/>
          </a:xfrm>
          <a:prstGeom prst="rect">
            <a:avLst/>
          </a:prstGeom>
        </p:spPr>
      </p:pic>
      <p:sp>
        <p:nvSpPr>
          <p:cNvPr id="67" name="CuadroTexto 10"/>
          <p:cNvSpPr txBox="1"/>
          <p:nvPr/>
        </p:nvSpPr>
        <p:spPr>
          <a:xfrm>
            <a:off x="261749" y="861649"/>
            <a:ext cx="1129187" cy="248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</a:t>
            </a:r>
            <a:r>
              <a:rPr lang="es-MX" sz="338" dirty="0" err="1" smtClean="0">
                <a:solidFill>
                  <a:srgbClr val="001F31"/>
                </a:solidFill>
                <a:latin typeface="Graphik Medium" panose="020B0603030202060203" pitchFamily="34" charset="0"/>
              </a:rPr>
              <a:t>IcNSTITUCIONAL</a:t>
            </a:r>
            <a:r>
              <a:rPr lang="es-MX" sz="338" dirty="0" smtClean="0">
                <a:solidFill>
                  <a:srgbClr val="001F31"/>
                </a:solidFill>
                <a:latin typeface="Graphik Medium" panose="020B0603030202060203" pitchFamily="34" charset="0"/>
              </a:rPr>
              <a:t> </a:t>
            </a:r>
            <a:endParaRPr lang="es-MX" sz="338" dirty="0">
              <a:solidFill>
                <a:srgbClr val="001F31"/>
              </a:solidFill>
              <a:latin typeface="Graphik Medium" panose="020B0603030202060203" pitchFamily="34" charset="0"/>
            </a:endParaRP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sp>
        <p:nvSpPr>
          <p:cNvPr id="70" name="CuadroTexto 10"/>
          <p:cNvSpPr txBox="1"/>
          <p:nvPr/>
        </p:nvSpPr>
        <p:spPr>
          <a:xfrm>
            <a:off x="240967" y="1609794"/>
            <a:ext cx="1129187" cy="248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</a:t>
            </a:r>
            <a:r>
              <a:rPr lang="es-MX" sz="338" dirty="0" err="1" smtClean="0">
                <a:solidFill>
                  <a:srgbClr val="001F31"/>
                </a:solidFill>
                <a:latin typeface="Graphik Medium" panose="020B0603030202060203" pitchFamily="34" charset="0"/>
              </a:rPr>
              <a:t>IcNSTITUCIONAL</a:t>
            </a:r>
            <a:r>
              <a:rPr lang="es-MX" sz="338" dirty="0" smtClean="0">
                <a:solidFill>
                  <a:srgbClr val="001F31"/>
                </a:solidFill>
                <a:latin typeface="Graphik Medium" panose="020B0603030202060203" pitchFamily="34" charset="0"/>
              </a:rPr>
              <a:t> </a:t>
            </a:r>
            <a:endParaRPr lang="es-MX" sz="338" dirty="0">
              <a:solidFill>
                <a:srgbClr val="001F31"/>
              </a:solidFill>
              <a:latin typeface="Graphik Medium" panose="020B0603030202060203" pitchFamily="34" charset="0"/>
            </a:endParaRP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pic>
        <p:nvPicPr>
          <p:cNvPr id="72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61" y="2442492"/>
            <a:ext cx="152400" cy="174153"/>
          </a:xfrm>
          <a:prstGeom prst="rect">
            <a:avLst/>
          </a:prstGeom>
        </p:spPr>
      </p:pic>
      <p:pic>
        <p:nvPicPr>
          <p:cNvPr id="73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23" y="1659707"/>
            <a:ext cx="152400" cy="174153"/>
          </a:xfrm>
          <a:prstGeom prst="rect">
            <a:avLst/>
          </a:prstGeom>
        </p:spPr>
      </p:pic>
      <p:sp>
        <p:nvSpPr>
          <p:cNvPr id="74" name="CuadroTexto 5"/>
          <p:cNvSpPr txBox="1"/>
          <p:nvPr/>
        </p:nvSpPr>
        <p:spPr>
          <a:xfrm>
            <a:off x="793865" y="991760"/>
            <a:ext cx="3561758" cy="405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rPr>
              <a:t>Hidrocarburos</a:t>
            </a:r>
          </a:p>
          <a:p>
            <a:pPr algn="ctr"/>
            <a:r>
              <a:rPr lang="es-MX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rPr>
              <a:t>Asesorías </a:t>
            </a:r>
            <a:endParaRPr lang="es-MX" sz="1000" dirty="0">
              <a:solidFill>
                <a:schemeClr val="tx1">
                  <a:lumMod val="75000"/>
                  <a:lumOff val="25000"/>
                </a:schemeClr>
              </a:solidFill>
              <a:latin typeface="Graphik Regular" panose="020B0503030202060203" pitchFamily="34" charset="0"/>
            </a:endParaRPr>
          </a:p>
        </p:txBody>
      </p:sp>
      <p:grpSp>
        <p:nvGrpSpPr>
          <p:cNvPr id="71" name="Grupo 3"/>
          <p:cNvGrpSpPr/>
          <p:nvPr/>
        </p:nvGrpSpPr>
        <p:grpSpPr>
          <a:xfrm>
            <a:off x="124684" y="8175745"/>
            <a:ext cx="4203227" cy="494379"/>
            <a:chOff x="2654422" y="1487024"/>
            <a:chExt cx="6219520" cy="1753474"/>
          </a:xfrm>
        </p:grpSpPr>
        <p:sp>
          <p:nvSpPr>
            <p:cNvPr id="75" name="CuadroTexto 5"/>
            <p:cNvSpPr txBox="1"/>
            <p:nvPr/>
          </p:nvSpPr>
          <p:spPr>
            <a:xfrm>
              <a:off x="3603604" y="1978309"/>
              <a:ext cx="5270338" cy="8739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Reducción de </a:t>
              </a:r>
              <a:r>
                <a:rPr lang="es-MX" sz="9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emsiones</a:t>
              </a:r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 de gases de efecto invernadero</a:t>
              </a:r>
              <a:endParaRPr lang="es-MX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</p:txBody>
        </p:sp>
        <p:sp>
          <p:nvSpPr>
            <p:cNvPr id="78" name="Rectángulo 7"/>
            <p:cNvSpPr/>
            <p:nvPr/>
          </p:nvSpPr>
          <p:spPr>
            <a:xfrm>
              <a:off x="2654422" y="1487024"/>
              <a:ext cx="5939999" cy="1753474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</p:grpSp>
      <p:sp>
        <p:nvSpPr>
          <p:cNvPr id="91" name="CuadroTexto 4"/>
          <p:cNvSpPr txBox="1"/>
          <p:nvPr/>
        </p:nvSpPr>
        <p:spPr>
          <a:xfrm>
            <a:off x="1413164" y="8175746"/>
            <a:ext cx="268625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9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rPr>
              <a:t>AEEH-2*1S.4.1./01-2018</a:t>
            </a:r>
            <a:endParaRPr lang="es-MX" sz="900" dirty="0">
              <a:solidFill>
                <a:schemeClr val="tx1">
                  <a:lumMod val="75000"/>
                  <a:lumOff val="25000"/>
                </a:schemeClr>
              </a:solidFill>
              <a:latin typeface="Graphik Medium" panose="020B0603030202060203" pitchFamily="34" charset="0"/>
            </a:endParaRPr>
          </a:p>
        </p:txBody>
      </p:sp>
      <p:sp>
        <p:nvSpPr>
          <p:cNvPr id="92" name="CuadroTexto 10"/>
          <p:cNvSpPr txBox="1"/>
          <p:nvPr/>
        </p:nvSpPr>
        <p:spPr>
          <a:xfrm>
            <a:off x="254819" y="8232274"/>
            <a:ext cx="1129187" cy="248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PROGRAMA DE </a:t>
            </a: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CALIDAD </a:t>
            </a:r>
            <a:r>
              <a:rPr lang="es-MX" sz="338" dirty="0" err="1" smtClean="0">
                <a:solidFill>
                  <a:srgbClr val="001F31"/>
                </a:solidFill>
                <a:latin typeface="Graphik Medium" panose="020B0603030202060203" pitchFamily="34" charset="0"/>
              </a:rPr>
              <a:t>IcNSTITUCIONAL</a:t>
            </a:r>
            <a:r>
              <a:rPr lang="es-MX" sz="338" dirty="0" smtClean="0">
                <a:solidFill>
                  <a:srgbClr val="001F31"/>
                </a:solidFill>
                <a:latin typeface="Graphik Medium" panose="020B0603030202060203" pitchFamily="34" charset="0"/>
              </a:rPr>
              <a:t> </a:t>
            </a:r>
            <a:endParaRPr lang="es-MX" sz="338" dirty="0">
              <a:solidFill>
                <a:srgbClr val="001F31"/>
              </a:solidFill>
              <a:latin typeface="Graphik Medium" panose="020B0603030202060203" pitchFamily="34" charset="0"/>
            </a:endParaRPr>
          </a:p>
          <a:p>
            <a:r>
              <a:rPr lang="es-MX" sz="338" dirty="0">
                <a:solidFill>
                  <a:srgbClr val="001F31"/>
                </a:solidFill>
                <a:latin typeface="Graphik Medium" panose="020B0603030202060203" pitchFamily="34" charset="0"/>
              </a:rPr>
              <a:t>Y MEJORA CONTINUA</a:t>
            </a:r>
          </a:p>
        </p:txBody>
      </p:sp>
      <p:pic>
        <p:nvPicPr>
          <p:cNvPr id="103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96239" y="8264243"/>
            <a:ext cx="140175" cy="16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7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/>
          <p:nvPr/>
        </p:nvGrpSpPr>
        <p:grpSpPr>
          <a:xfrm>
            <a:off x="198214" y="5255681"/>
            <a:ext cx="6244151" cy="1560757"/>
            <a:chOff x="2654422" y="1472269"/>
            <a:chExt cx="6531782" cy="873086"/>
          </a:xfrm>
        </p:grpSpPr>
        <p:sp>
          <p:nvSpPr>
            <p:cNvPr id="5" name="CuadroTexto 4"/>
            <p:cNvSpPr txBox="1"/>
            <p:nvPr/>
          </p:nvSpPr>
          <p:spPr>
            <a:xfrm>
              <a:off x="4171746" y="1493720"/>
              <a:ext cx="3933160" cy="1087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AEEH-2*-1S./01-2021</a:t>
              </a:r>
              <a:endParaRPr lang="es-MX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endParaRPr>
            </a:p>
          </p:txBody>
        </p:sp>
        <p:sp>
          <p:nvSpPr>
            <p:cNvPr id="6" name="CuadroTexto 5"/>
            <p:cNvSpPr txBox="1"/>
            <p:nvPr/>
          </p:nvSpPr>
          <p:spPr>
            <a:xfrm>
              <a:off x="3317746" y="1588510"/>
              <a:ext cx="5868458" cy="7568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PROYECTO PARA REDIRIGIR EL AGUA DEL RIO TULA</a:t>
              </a:r>
            </a:p>
            <a:p>
              <a:pPr algn="ctr"/>
              <a:r>
                <a:rPr lang="es-MX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A LA PLANTA TERMOELECTRICA CFE DE TULA</a:t>
              </a:r>
            </a:p>
            <a:p>
              <a:pPr algn="ctr"/>
              <a:r>
                <a:rPr lang="es-MX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CHINA SOUTHERN POWER GRID COMPANY, LTD</a:t>
              </a:r>
            </a:p>
            <a:p>
              <a:pPr algn="ctr"/>
              <a:endPara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</p:txBody>
        </p:sp>
        <p:grpSp>
          <p:nvGrpSpPr>
            <p:cNvPr id="7" name="Grupo 6"/>
            <p:cNvGrpSpPr/>
            <p:nvPr/>
          </p:nvGrpSpPr>
          <p:grpSpPr>
            <a:xfrm>
              <a:off x="2654422" y="1472269"/>
              <a:ext cx="5940000" cy="474655"/>
              <a:chOff x="2654422" y="1472269"/>
              <a:chExt cx="5940000" cy="474655"/>
            </a:xfrm>
          </p:grpSpPr>
          <p:sp>
            <p:nvSpPr>
              <p:cNvPr id="8" name="Rectángulo 7"/>
              <p:cNvSpPr/>
              <p:nvPr/>
            </p:nvSpPr>
            <p:spPr>
              <a:xfrm>
                <a:off x="2654422" y="1472269"/>
                <a:ext cx="5940000" cy="474655"/>
              </a:xfrm>
              <a:prstGeom prst="rect">
                <a:avLst/>
              </a:prstGeom>
              <a:noFill/>
              <a:ln w="57150">
                <a:solidFill>
                  <a:srgbClr val="001F3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s-MX" sz="760" dirty="0"/>
              </a:p>
            </p:txBody>
          </p:sp>
          <p:sp>
            <p:nvSpPr>
              <p:cNvPr id="9" name="CuadroTexto 10"/>
              <p:cNvSpPr txBox="1"/>
              <p:nvPr/>
            </p:nvSpPr>
            <p:spPr>
              <a:xfrm>
                <a:off x="2975336" y="1542238"/>
                <a:ext cx="1417918" cy="226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PROGRAMA DE </a:t>
                </a:r>
              </a:p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CALIDAD INSTITUCIONAL </a:t>
                </a:r>
              </a:p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Y MEJORA CONTINUA</a:t>
                </a:r>
              </a:p>
            </p:txBody>
          </p:sp>
        </p:grpSp>
      </p:grpSp>
      <p:grpSp>
        <p:nvGrpSpPr>
          <p:cNvPr id="10" name="Grupo 9"/>
          <p:cNvGrpSpPr/>
          <p:nvPr/>
        </p:nvGrpSpPr>
        <p:grpSpPr>
          <a:xfrm>
            <a:off x="496088" y="3724752"/>
            <a:ext cx="3556367" cy="848509"/>
            <a:chOff x="2654422" y="1472269"/>
            <a:chExt cx="5940000" cy="474655"/>
          </a:xfrm>
        </p:grpSpPr>
        <p:sp>
          <p:nvSpPr>
            <p:cNvPr id="11" name="CuadroTexto 10"/>
            <p:cNvSpPr txBox="1"/>
            <p:nvPr/>
          </p:nvSpPr>
          <p:spPr>
            <a:xfrm>
              <a:off x="4171746" y="1528598"/>
              <a:ext cx="3933160" cy="292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2   0   2   1</a:t>
              </a:r>
              <a:endParaRPr lang="es-MX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endParaRPr>
            </a:p>
          </p:txBody>
        </p:sp>
        <p:sp>
          <p:nvSpPr>
            <p:cNvPr id="14" name="Rectángulo 13"/>
            <p:cNvSpPr/>
            <p:nvPr/>
          </p:nvSpPr>
          <p:spPr>
            <a:xfrm>
              <a:off x="2654422" y="1472269"/>
              <a:ext cx="5940000" cy="474655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70198" y="6479256"/>
            <a:ext cx="4721258" cy="659379"/>
            <a:chOff x="2654422" y="1461048"/>
            <a:chExt cx="6311742" cy="485876"/>
          </a:xfrm>
        </p:grpSpPr>
        <p:sp>
          <p:nvSpPr>
            <p:cNvPr id="13" name="CuadroTexto 12"/>
            <p:cNvSpPr txBox="1"/>
            <p:nvPr/>
          </p:nvSpPr>
          <p:spPr>
            <a:xfrm>
              <a:off x="4171746" y="1461048"/>
              <a:ext cx="3933161" cy="1277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AEEH-2*-1S.3/01-2021</a:t>
              </a:r>
              <a:endParaRPr lang="es-MX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endParaRPr>
            </a:p>
          </p:txBody>
        </p:sp>
        <p:sp>
          <p:nvSpPr>
            <p:cNvPr id="15" name="CuadroTexto 14"/>
            <p:cNvSpPr txBox="1"/>
            <p:nvPr/>
          </p:nvSpPr>
          <p:spPr>
            <a:xfrm>
              <a:off x="3097705" y="1575308"/>
              <a:ext cx="5868459" cy="357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Proyecto para redirigir el agua del Río Tula</a:t>
              </a:r>
            </a:p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a la planta termoeléctrica CFE de Tula</a:t>
              </a:r>
            </a:p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China </a:t>
              </a:r>
              <a:r>
                <a:rPr lang="es-MX" sz="9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Southern</a:t>
              </a:r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 </a:t>
              </a:r>
              <a:r>
                <a:rPr lang="es-MX" sz="9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Power</a:t>
              </a:r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 </a:t>
              </a:r>
              <a:r>
                <a:rPr lang="es-MX" sz="9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Grid</a:t>
              </a:r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 </a:t>
              </a:r>
              <a:r>
                <a:rPr lang="es-MX" sz="9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Energy-Efficiency</a:t>
              </a:r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 &amp; </a:t>
              </a:r>
              <a:r>
                <a:rPr lang="es-MX" sz="9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Clean-Energy</a:t>
              </a:r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Regular" panose="020B0503030202060203" pitchFamily="34" charset="0"/>
                </a:rPr>
                <a:t> Co., Ltd.</a:t>
              </a:r>
            </a:p>
            <a:p>
              <a:pPr algn="ctr"/>
              <a:endParaRPr lang="es-MX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Regular" panose="020B0503030202060203" pitchFamily="34" charset="0"/>
              </a:endParaRPr>
            </a:p>
          </p:txBody>
        </p:sp>
        <p:grpSp>
          <p:nvGrpSpPr>
            <p:cNvPr id="16" name="Grupo 15"/>
            <p:cNvGrpSpPr/>
            <p:nvPr/>
          </p:nvGrpSpPr>
          <p:grpSpPr>
            <a:xfrm>
              <a:off x="2654422" y="1472269"/>
              <a:ext cx="5940000" cy="474655"/>
              <a:chOff x="2654422" y="1472269"/>
              <a:chExt cx="5940000" cy="474655"/>
            </a:xfrm>
          </p:grpSpPr>
          <p:sp>
            <p:nvSpPr>
              <p:cNvPr id="17" name="Rectángulo 16"/>
              <p:cNvSpPr/>
              <p:nvPr/>
            </p:nvSpPr>
            <p:spPr>
              <a:xfrm>
                <a:off x="2654422" y="1472269"/>
                <a:ext cx="5940000" cy="474655"/>
              </a:xfrm>
              <a:prstGeom prst="rect">
                <a:avLst/>
              </a:prstGeom>
              <a:noFill/>
              <a:ln w="57150">
                <a:solidFill>
                  <a:srgbClr val="001F3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s-MX" sz="760" dirty="0"/>
              </a:p>
            </p:txBody>
          </p:sp>
          <p:sp>
            <p:nvSpPr>
              <p:cNvPr id="18" name="CuadroTexto 10"/>
              <p:cNvSpPr txBox="1"/>
              <p:nvPr/>
            </p:nvSpPr>
            <p:spPr>
              <a:xfrm>
                <a:off x="2797844" y="1488115"/>
                <a:ext cx="1417919" cy="226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PROGRAMA DE </a:t>
                </a:r>
              </a:p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CALIDAD INSTITUCIONAL </a:t>
                </a:r>
              </a:p>
              <a:p>
                <a:r>
                  <a:rPr lang="es-MX" sz="338" dirty="0">
                    <a:solidFill>
                      <a:srgbClr val="001F31"/>
                    </a:solidFill>
                    <a:latin typeface="Graphik Medium" panose="020B0603030202060203" pitchFamily="34" charset="0"/>
                  </a:rPr>
                  <a:t>Y MEJORA CONTINUA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91385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upo 3"/>
          <p:cNvGrpSpPr/>
          <p:nvPr/>
        </p:nvGrpSpPr>
        <p:grpSpPr>
          <a:xfrm>
            <a:off x="1080650" y="173788"/>
            <a:ext cx="5195461" cy="530126"/>
            <a:chOff x="2654422" y="1487025"/>
            <a:chExt cx="6032812" cy="474655"/>
          </a:xfrm>
        </p:grpSpPr>
        <p:sp>
          <p:nvSpPr>
            <p:cNvPr id="99" name="CuadroTexto 4"/>
            <p:cNvSpPr txBox="1"/>
            <p:nvPr/>
          </p:nvSpPr>
          <p:spPr>
            <a:xfrm>
              <a:off x="2836342" y="1559655"/>
              <a:ext cx="5850892" cy="3306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 </a:t>
              </a:r>
              <a:r>
                <a:rPr lang="es-MX" sz="1800" dirty="0" smtClean="0">
                  <a:solidFill>
                    <a:srgbClr val="0070C0"/>
                  </a:solidFill>
                  <a:latin typeface="Graphik Medium" panose="020B0603030202060203" pitchFamily="34" charset="0"/>
                </a:rPr>
                <a:t>E T </a:t>
              </a:r>
              <a:r>
                <a:rPr lang="es-MX" sz="1800" dirty="0">
                  <a:solidFill>
                    <a:srgbClr val="0070C0"/>
                  </a:solidFill>
                  <a:latin typeface="Graphik Medium" panose="020B0603030202060203" pitchFamily="34" charset="0"/>
                </a:rPr>
                <a:t>I</a:t>
              </a:r>
              <a:r>
                <a:rPr lang="es-MX" sz="1800" dirty="0" smtClean="0">
                  <a:solidFill>
                    <a:srgbClr val="0070C0"/>
                  </a:solidFill>
                  <a:latin typeface="Graphik Medium" panose="020B0603030202060203" pitchFamily="34" charset="0"/>
                </a:rPr>
                <a:t> Q U E T A S   </a:t>
              </a:r>
              <a:r>
                <a:rPr lang="es-MX" sz="1800" dirty="0" smtClean="0">
                  <a:solidFill>
                    <a:srgbClr val="0070C0"/>
                  </a:solidFill>
                  <a:latin typeface="Graphik Medium" panose="020B0603030202060203" pitchFamily="34" charset="0"/>
                </a:rPr>
                <a:t>2019</a:t>
              </a:r>
              <a:endParaRPr lang="es-MX" sz="1800" dirty="0">
                <a:solidFill>
                  <a:srgbClr val="0070C0"/>
                </a:solidFill>
                <a:latin typeface="Graphik Medium" panose="020B0603030202060203" pitchFamily="34" charset="0"/>
              </a:endParaRPr>
            </a:p>
          </p:txBody>
        </p:sp>
        <p:sp>
          <p:nvSpPr>
            <p:cNvPr id="102" name="Rectángulo 7"/>
            <p:cNvSpPr/>
            <p:nvPr/>
          </p:nvSpPr>
          <p:spPr>
            <a:xfrm>
              <a:off x="2654422" y="1487025"/>
              <a:ext cx="5940000" cy="474655"/>
            </a:xfrm>
            <a:prstGeom prst="rect">
              <a:avLst/>
            </a:prstGeom>
            <a:noFill/>
            <a:ln w="57150">
              <a:solidFill>
                <a:srgbClr val="001F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MX" sz="760" dirty="0"/>
            </a:p>
          </p:txBody>
        </p:sp>
      </p:grpSp>
      <p:grpSp>
        <p:nvGrpSpPr>
          <p:cNvPr id="35" name="Grupo 3"/>
          <p:cNvGrpSpPr/>
          <p:nvPr/>
        </p:nvGrpSpPr>
        <p:grpSpPr>
          <a:xfrm>
            <a:off x="48430" y="6655399"/>
            <a:ext cx="4631128" cy="1053402"/>
            <a:chOff x="2654422" y="1487025"/>
            <a:chExt cx="5940000" cy="707154"/>
          </a:xfrm>
        </p:grpSpPr>
        <p:sp>
          <p:nvSpPr>
            <p:cNvPr id="36" name="CuadroTexto 4"/>
            <p:cNvSpPr txBox="1"/>
            <p:nvPr/>
          </p:nvSpPr>
          <p:spPr>
            <a:xfrm>
              <a:off x="3689282" y="1489927"/>
              <a:ext cx="4225730" cy="557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Graphik Medium" panose="020B0603030202060203" pitchFamily="34" charset="0"/>
                </a:rPr>
                <a:t>AEEH-2*-1S.3/01-2019</a:t>
              </a:r>
            </a:p>
            <a:p>
              <a:pPr algn="ctr"/>
              <a:r>
                <a:rPr lang="es-MX" sz="9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Graphik Medium" panose="020B0603030202060203" pitchFamily="34" charset="0"/>
                </a:rPr>
                <a:t>CENTRAL DE GENERACION DE ENERGIA ELECTRICA, NOPALA DE VILLAGRAN, HIDALGO</a:t>
              </a:r>
            </a:p>
            <a:p>
              <a:pPr algn="ctr"/>
              <a:r>
                <a:rPr lang="es-MX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Graphik Medium" panose="020B0603030202060203" pitchFamily="34" charset="0"/>
                </a:rPr>
                <a:t>SCUTTI SOLAR 3, S.A.P.I. DE C.V.</a:t>
              </a:r>
            </a:p>
            <a:p>
              <a:pPr algn="ctr"/>
              <a:endParaRPr lang="es-MX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Graphik Medium" panose="020B0603030202060203" pitchFamily="34" charset="0"/>
              </a:endParaRPr>
            </a:p>
          </p:txBody>
        </p:sp>
        <p:grpSp>
          <p:nvGrpSpPr>
            <p:cNvPr id="50" name="Grupo 6"/>
            <p:cNvGrpSpPr/>
            <p:nvPr/>
          </p:nvGrpSpPr>
          <p:grpSpPr>
            <a:xfrm>
              <a:off x="2654422" y="1487025"/>
              <a:ext cx="5940000" cy="707154"/>
              <a:chOff x="2654422" y="1487025"/>
              <a:chExt cx="5940000" cy="707154"/>
            </a:xfrm>
          </p:grpSpPr>
          <p:sp>
            <p:nvSpPr>
              <p:cNvPr id="51" name="Rectángulo 7"/>
              <p:cNvSpPr/>
              <p:nvPr/>
            </p:nvSpPr>
            <p:spPr>
              <a:xfrm>
                <a:off x="2654422" y="1487025"/>
                <a:ext cx="5940000" cy="474655"/>
              </a:xfrm>
              <a:prstGeom prst="rect">
                <a:avLst/>
              </a:prstGeom>
              <a:noFill/>
              <a:ln w="57150">
                <a:solidFill>
                  <a:srgbClr val="001F3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s-MX" sz="760" dirty="0"/>
              </a:p>
            </p:txBody>
          </p:sp>
          <p:grpSp>
            <p:nvGrpSpPr>
              <p:cNvPr id="52" name="Grupo 8"/>
              <p:cNvGrpSpPr/>
              <p:nvPr/>
            </p:nvGrpSpPr>
            <p:grpSpPr>
              <a:xfrm>
                <a:off x="2721463" y="1567803"/>
                <a:ext cx="1631115" cy="626376"/>
                <a:chOff x="2579949" y="2329803"/>
                <a:chExt cx="1631115" cy="626376"/>
              </a:xfrm>
            </p:grpSpPr>
            <p:pic>
              <p:nvPicPr>
                <p:cNvPr id="56" name="Imagen 9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79949" y="2350878"/>
                  <a:ext cx="265342" cy="185259"/>
                </a:xfrm>
                <a:prstGeom prst="rect">
                  <a:avLst/>
                </a:prstGeom>
              </p:spPr>
            </p:pic>
            <p:sp>
              <p:nvSpPr>
                <p:cNvPr id="58" name="CuadroTexto 10"/>
                <p:cNvSpPr txBox="1"/>
                <p:nvPr/>
              </p:nvSpPr>
              <p:spPr>
                <a:xfrm>
                  <a:off x="2748265" y="2329803"/>
                  <a:ext cx="1462799" cy="626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338" dirty="0">
                      <a:solidFill>
                        <a:srgbClr val="001F31"/>
                      </a:solidFill>
                      <a:latin typeface="Graphik Medium" panose="020B0603030202060203" pitchFamily="34" charset="0"/>
                    </a:rPr>
                    <a:t>PROGRAMA DE </a:t>
                  </a:r>
                </a:p>
                <a:p>
                  <a:r>
                    <a:rPr lang="es-MX" sz="338" dirty="0">
                      <a:solidFill>
                        <a:srgbClr val="001F31"/>
                      </a:solidFill>
                      <a:latin typeface="Graphik Medium" panose="020B0603030202060203" pitchFamily="34" charset="0"/>
                    </a:rPr>
                    <a:t>CALIDAD INSTITUCIONAL </a:t>
                  </a:r>
                </a:p>
                <a:p>
                  <a:r>
                    <a:rPr lang="es-MX" sz="338" dirty="0">
                      <a:solidFill>
                        <a:srgbClr val="001F31"/>
                      </a:solidFill>
                      <a:latin typeface="Graphik Medium" panose="020B0603030202060203" pitchFamily="34" charset="0"/>
                    </a:rPr>
                    <a:t>Y MEJORA CONTINUA</a:t>
                  </a:r>
                </a:p>
              </p:txBody>
            </p:sp>
          </p:grpSp>
        </p:grpSp>
      </p:grpSp>
      <p:grpSp>
        <p:nvGrpSpPr>
          <p:cNvPr id="59" name="Grupo 3"/>
          <p:cNvGrpSpPr/>
          <p:nvPr/>
        </p:nvGrpSpPr>
        <p:grpSpPr>
          <a:xfrm>
            <a:off x="34574" y="7493618"/>
            <a:ext cx="4631128" cy="1032620"/>
            <a:chOff x="2654422" y="1487025"/>
            <a:chExt cx="5940000" cy="693203"/>
          </a:xfrm>
        </p:grpSpPr>
        <p:sp>
          <p:nvSpPr>
            <p:cNvPr id="60" name="CuadroTexto 4"/>
            <p:cNvSpPr txBox="1"/>
            <p:nvPr/>
          </p:nvSpPr>
          <p:spPr>
            <a:xfrm>
              <a:off x="3689282" y="1489927"/>
              <a:ext cx="4225730" cy="557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AEEH-2*-1S.3/01-2019</a:t>
              </a:r>
            </a:p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PROYECTO SANTA CLARA FV , MUNICIPIO DE</a:t>
              </a:r>
            </a:p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EMILIANO ZAPATA , HIDALGO</a:t>
              </a:r>
            </a:p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SOLAR ENERGY I  S,. DE R.. L. DE  C.V</a:t>
              </a:r>
              <a:r>
                <a:rPr lang="es-MX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.</a:t>
              </a:r>
            </a:p>
            <a:p>
              <a:pPr algn="ctr"/>
              <a:endParaRPr lang="es-MX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Graphik Medium" panose="020B0603030202060203" pitchFamily="34" charset="0"/>
              </a:endParaRPr>
            </a:p>
          </p:txBody>
        </p:sp>
        <p:grpSp>
          <p:nvGrpSpPr>
            <p:cNvPr id="62" name="Grupo 6"/>
            <p:cNvGrpSpPr/>
            <p:nvPr/>
          </p:nvGrpSpPr>
          <p:grpSpPr>
            <a:xfrm>
              <a:off x="2654422" y="1487025"/>
              <a:ext cx="5940000" cy="693203"/>
              <a:chOff x="2654422" y="1487025"/>
              <a:chExt cx="5940000" cy="693203"/>
            </a:xfrm>
          </p:grpSpPr>
          <p:sp>
            <p:nvSpPr>
              <p:cNvPr id="63" name="Rectángulo 7"/>
              <p:cNvSpPr/>
              <p:nvPr/>
            </p:nvSpPr>
            <p:spPr>
              <a:xfrm>
                <a:off x="2654422" y="1487025"/>
                <a:ext cx="5940000" cy="474655"/>
              </a:xfrm>
              <a:prstGeom prst="rect">
                <a:avLst/>
              </a:prstGeom>
              <a:noFill/>
              <a:ln w="57150">
                <a:solidFill>
                  <a:srgbClr val="001F3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s-MX" sz="760" dirty="0"/>
              </a:p>
            </p:txBody>
          </p:sp>
          <p:grpSp>
            <p:nvGrpSpPr>
              <p:cNvPr id="64" name="Grupo 8"/>
              <p:cNvGrpSpPr/>
              <p:nvPr/>
            </p:nvGrpSpPr>
            <p:grpSpPr>
              <a:xfrm>
                <a:off x="2748119" y="1553852"/>
                <a:ext cx="1631115" cy="626376"/>
                <a:chOff x="2606605" y="2315852"/>
                <a:chExt cx="1631115" cy="626376"/>
              </a:xfrm>
            </p:grpSpPr>
            <p:pic>
              <p:nvPicPr>
                <p:cNvPr id="65" name="Imagen 9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06605" y="2350878"/>
                  <a:ext cx="265342" cy="185259"/>
                </a:xfrm>
                <a:prstGeom prst="rect">
                  <a:avLst/>
                </a:prstGeom>
              </p:spPr>
            </p:pic>
            <p:sp>
              <p:nvSpPr>
                <p:cNvPr id="66" name="CuadroTexto 10"/>
                <p:cNvSpPr txBox="1"/>
                <p:nvPr/>
              </p:nvSpPr>
              <p:spPr>
                <a:xfrm>
                  <a:off x="2774921" y="2315852"/>
                  <a:ext cx="1462799" cy="626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338" dirty="0">
                      <a:solidFill>
                        <a:srgbClr val="001F31"/>
                      </a:solidFill>
                      <a:latin typeface="Graphik Medium" panose="020B0603030202060203" pitchFamily="34" charset="0"/>
                    </a:rPr>
                    <a:t>PROGRAMA DE </a:t>
                  </a:r>
                </a:p>
                <a:p>
                  <a:r>
                    <a:rPr lang="es-MX" sz="338" dirty="0">
                      <a:solidFill>
                        <a:srgbClr val="001F31"/>
                      </a:solidFill>
                      <a:latin typeface="Graphik Medium" panose="020B0603030202060203" pitchFamily="34" charset="0"/>
                    </a:rPr>
                    <a:t>CALIDAD INSTITUCIONAL </a:t>
                  </a:r>
                </a:p>
                <a:p>
                  <a:r>
                    <a:rPr lang="es-MX" sz="338" dirty="0">
                      <a:solidFill>
                        <a:srgbClr val="001F31"/>
                      </a:solidFill>
                      <a:latin typeface="Graphik Medium" panose="020B0603030202060203" pitchFamily="34" charset="0"/>
                    </a:rPr>
                    <a:t>Y MEJORA CONTINUA</a:t>
                  </a:r>
                </a:p>
              </p:txBody>
            </p:sp>
          </p:grpSp>
        </p:grpSp>
      </p:grpSp>
      <p:grpSp>
        <p:nvGrpSpPr>
          <p:cNvPr id="67" name="Grupo 3"/>
          <p:cNvGrpSpPr/>
          <p:nvPr/>
        </p:nvGrpSpPr>
        <p:grpSpPr>
          <a:xfrm>
            <a:off x="62282" y="8352595"/>
            <a:ext cx="4631128" cy="895318"/>
            <a:chOff x="2654422" y="1487025"/>
            <a:chExt cx="5940000" cy="691112"/>
          </a:xfrm>
        </p:grpSpPr>
        <p:sp>
          <p:nvSpPr>
            <p:cNvPr id="68" name="CuadroTexto 4"/>
            <p:cNvSpPr txBox="1"/>
            <p:nvPr/>
          </p:nvSpPr>
          <p:spPr>
            <a:xfrm>
              <a:off x="3689282" y="1505969"/>
              <a:ext cx="4225730" cy="534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AEEH-2*-1S.3/01-2019</a:t>
              </a:r>
            </a:p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PROYECTO: PARQUE SOLAR LA MAGDALENA</a:t>
              </a:r>
            </a:p>
            <a:p>
              <a:pPr algn="ctr"/>
              <a:r>
                <a:rPr lang="es-MX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SOLAR ENERGY I  S,. DE R.. L. DE  C.V</a:t>
              </a:r>
              <a:r>
                <a:rPr lang="es-MX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 Medium" panose="020B0603030202060203" pitchFamily="34" charset="0"/>
                </a:rPr>
                <a:t>.</a:t>
              </a:r>
            </a:p>
            <a:p>
              <a:pPr algn="ctr"/>
              <a:endParaRPr lang="es-MX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Graphik Medium" panose="020B0603030202060203" pitchFamily="34" charset="0"/>
              </a:endParaRPr>
            </a:p>
          </p:txBody>
        </p:sp>
        <p:grpSp>
          <p:nvGrpSpPr>
            <p:cNvPr id="69" name="Grupo 6"/>
            <p:cNvGrpSpPr/>
            <p:nvPr/>
          </p:nvGrpSpPr>
          <p:grpSpPr>
            <a:xfrm>
              <a:off x="2654422" y="1487025"/>
              <a:ext cx="5940000" cy="691112"/>
              <a:chOff x="2654422" y="1487025"/>
              <a:chExt cx="5940000" cy="691112"/>
            </a:xfrm>
          </p:grpSpPr>
          <p:sp>
            <p:nvSpPr>
              <p:cNvPr id="70" name="Rectángulo 7"/>
              <p:cNvSpPr/>
              <p:nvPr/>
            </p:nvSpPr>
            <p:spPr>
              <a:xfrm>
                <a:off x="2654422" y="1487025"/>
                <a:ext cx="5940000" cy="474655"/>
              </a:xfrm>
              <a:prstGeom prst="rect">
                <a:avLst/>
              </a:prstGeom>
              <a:noFill/>
              <a:ln w="57150">
                <a:solidFill>
                  <a:srgbClr val="001F3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38576" tIns="19289" rIns="38576" bIns="1928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s-MX" sz="760" dirty="0"/>
              </a:p>
            </p:txBody>
          </p:sp>
          <p:grpSp>
            <p:nvGrpSpPr>
              <p:cNvPr id="71" name="Grupo 8"/>
              <p:cNvGrpSpPr/>
              <p:nvPr/>
            </p:nvGrpSpPr>
            <p:grpSpPr>
              <a:xfrm>
                <a:off x="2721463" y="1551761"/>
                <a:ext cx="1631115" cy="626376"/>
                <a:chOff x="2579949" y="2313761"/>
                <a:chExt cx="1631115" cy="626376"/>
              </a:xfrm>
            </p:grpSpPr>
            <p:pic>
              <p:nvPicPr>
                <p:cNvPr id="72" name="Imagen 9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79949" y="2350878"/>
                  <a:ext cx="265342" cy="185259"/>
                </a:xfrm>
                <a:prstGeom prst="rect">
                  <a:avLst/>
                </a:prstGeom>
              </p:spPr>
            </p:pic>
            <p:sp>
              <p:nvSpPr>
                <p:cNvPr id="73" name="CuadroTexto 10"/>
                <p:cNvSpPr txBox="1"/>
                <p:nvPr/>
              </p:nvSpPr>
              <p:spPr>
                <a:xfrm>
                  <a:off x="2748265" y="2313761"/>
                  <a:ext cx="1462799" cy="6263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sz="338" dirty="0">
                      <a:solidFill>
                        <a:srgbClr val="001F31"/>
                      </a:solidFill>
                      <a:latin typeface="Graphik Medium" panose="020B0603030202060203" pitchFamily="34" charset="0"/>
                    </a:rPr>
                    <a:t>PROGRAMA DE </a:t>
                  </a:r>
                </a:p>
                <a:p>
                  <a:r>
                    <a:rPr lang="es-MX" sz="338" dirty="0">
                      <a:solidFill>
                        <a:srgbClr val="001F31"/>
                      </a:solidFill>
                      <a:latin typeface="Graphik Medium" panose="020B0603030202060203" pitchFamily="34" charset="0"/>
                    </a:rPr>
                    <a:t>CALIDAD INSTITUCIONAL </a:t>
                  </a:r>
                </a:p>
                <a:p>
                  <a:r>
                    <a:rPr lang="es-MX" sz="338" dirty="0">
                      <a:solidFill>
                        <a:srgbClr val="001F31"/>
                      </a:solidFill>
                      <a:latin typeface="Graphik Medium" panose="020B0603030202060203" pitchFamily="34" charset="0"/>
                    </a:rPr>
                    <a:t>Y MEJORA CONTINUA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622673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16318</TotalTime>
  <Words>917</Words>
  <Application>Microsoft Office PowerPoint</Application>
  <PresentationFormat>Carta (216 x 279 mm)</PresentationFormat>
  <Paragraphs>244</Paragraphs>
  <Slides>6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Graphik Medium</vt:lpstr>
      <vt:lpstr>Graphik Regular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Hp</cp:lastModifiedBy>
  <cp:revision>614</cp:revision>
  <cp:lastPrinted>2023-10-04T22:32:00Z</cp:lastPrinted>
  <dcterms:created xsi:type="dcterms:W3CDTF">2016-10-18T20:35:24Z</dcterms:created>
  <dcterms:modified xsi:type="dcterms:W3CDTF">2025-04-21T17:53:51Z</dcterms:modified>
</cp:coreProperties>
</file>